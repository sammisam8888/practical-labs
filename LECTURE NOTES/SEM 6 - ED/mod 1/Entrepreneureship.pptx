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3"/>
  </p:notesMasterIdLst>
  <p:sldIdLst>
    <p:sldId id="272" r:id="rId2"/>
    <p:sldId id="257" r:id="rId3"/>
    <p:sldId id="265" r:id="rId4"/>
    <p:sldId id="284" r:id="rId5"/>
    <p:sldId id="286" r:id="rId6"/>
    <p:sldId id="266" r:id="rId7"/>
    <p:sldId id="280" r:id="rId8"/>
    <p:sldId id="270" r:id="rId9"/>
    <p:sldId id="271" r:id="rId10"/>
    <p:sldId id="279" r:id="rId11"/>
    <p:sldId id="275" r:id="rId12"/>
    <p:sldId id="282" r:id="rId13"/>
    <p:sldId id="260" r:id="rId14"/>
    <p:sldId id="267" r:id="rId15"/>
    <p:sldId id="283" r:id="rId16"/>
    <p:sldId id="268" r:id="rId17"/>
    <p:sldId id="281" r:id="rId18"/>
    <p:sldId id="269" r:id="rId19"/>
    <p:sldId id="262" r:id="rId20"/>
    <p:sldId id="263" r:id="rId21"/>
    <p:sldId id="264" r:id="rId2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50538DB8-4E5B-4794-A335-769349F97475}" type="datetimeFigureOut">
              <a:rPr lang="en-US"/>
              <a:pPr>
                <a:defRPr/>
              </a:pPr>
              <a:t>7/16/2025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DFD81BD9-7338-4AC7-95C6-C1817ADCDDEB}"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p:spPr>
      </p:sp>
      <p:sp>
        <p:nvSpPr>
          <p:cNvPr id="276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662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10D0CBE-3687-4792-9D74-969AF8FB8A09}" type="slidenum">
              <a:rPr lang="en-US" smtClean="0"/>
              <a:pPr fontAlgn="base">
                <a:spcBef>
                  <a:spcPct val="0"/>
                </a:spcBef>
                <a:spcAft>
                  <a:spcPct val="0"/>
                </a:spcAft>
                <a:defRPr/>
              </a:pPr>
              <a:t>2</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fld id="{22025002-578D-4732-AEAE-659A28EC99C9}" type="datetimeFigureOut">
              <a:rPr lang="en-IN"/>
              <a:pPr>
                <a:defRPr/>
              </a:pPr>
              <a:t>16-07-2025</a:t>
            </a:fld>
            <a:endParaRPr lang="en-IN" dirty="0"/>
          </a:p>
        </p:txBody>
      </p:sp>
      <p:sp>
        <p:nvSpPr>
          <p:cNvPr id="5" name="Footer Placeholder 18"/>
          <p:cNvSpPr>
            <a:spLocks noGrp="1"/>
          </p:cNvSpPr>
          <p:nvPr>
            <p:ph type="ftr" sz="quarter" idx="11"/>
          </p:nvPr>
        </p:nvSpPr>
        <p:spPr/>
        <p:txBody>
          <a:bodyPr/>
          <a:lstStyle>
            <a:lvl1pPr>
              <a:defRPr/>
            </a:lvl1pPr>
          </a:lstStyle>
          <a:p>
            <a:pPr>
              <a:defRPr/>
            </a:pPr>
            <a:endParaRPr lang="en-IN"/>
          </a:p>
        </p:txBody>
      </p:sp>
      <p:sp>
        <p:nvSpPr>
          <p:cNvPr id="6" name="Slide Number Placeholder 26"/>
          <p:cNvSpPr>
            <a:spLocks noGrp="1"/>
          </p:cNvSpPr>
          <p:nvPr>
            <p:ph type="sldNum" sz="quarter" idx="12"/>
          </p:nvPr>
        </p:nvSpPr>
        <p:spPr/>
        <p:txBody>
          <a:bodyPr/>
          <a:lstStyle>
            <a:lvl1pPr>
              <a:defRPr/>
            </a:lvl1pPr>
          </a:lstStyle>
          <a:p>
            <a:pPr>
              <a:defRPr/>
            </a:pPr>
            <a:fld id="{0613713B-169A-40A2-A335-2F70DE9E4403}" type="slidenum">
              <a:rPr lang="en-IN"/>
              <a:pPr>
                <a:defRPr/>
              </a:pPr>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4BA09B39-AC68-4487-8121-D1DBAB9890B5}" type="datetimeFigureOut">
              <a:rPr lang="en-IN"/>
              <a:pPr>
                <a:defRPr/>
              </a:pPr>
              <a:t>16-07-2025</a:t>
            </a:fld>
            <a:endParaRPr lang="en-IN" dirty="0"/>
          </a:p>
        </p:txBody>
      </p:sp>
      <p:sp>
        <p:nvSpPr>
          <p:cNvPr id="5" name="Footer Placeholder 21"/>
          <p:cNvSpPr>
            <a:spLocks noGrp="1"/>
          </p:cNvSpPr>
          <p:nvPr>
            <p:ph type="ftr" sz="quarter" idx="11"/>
          </p:nvPr>
        </p:nvSpPr>
        <p:spPr/>
        <p:txBody>
          <a:bodyPr/>
          <a:lstStyle>
            <a:lvl1pPr>
              <a:defRPr/>
            </a:lvl1pPr>
          </a:lstStyle>
          <a:p>
            <a:pPr>
              <a:defRPr/>
            </a:pPr>
            <a:endParaRPr lang="en-IN"/>
          </a:p>
        </p:txBody>
      </p:sp>
      <p:sp>
        <p:nvSpPr>
          <p:cNvPr id="6" name="Slide Number Placeholder 17"/>
          <p:cNvSpPr>
            <a:spLocks noGrp="1"/>
          </p:cNvSpPr>
          <p:nvPr>
            <p:ph type="sldNum" sz="quarter" idx="12"/>
          </p:nvPr>
        </p:nvSpPr>
        <p:spPr/>
        <p:txBody>
          <a:bodyPr/>
          <a:lstStyle>
            <a:lvl1pPr>
              <a:defRPr/>
            </a:lvl1pPr>
          </a:lstStyle>
          <a:p>
            <a:pPr>
              <a:defRPr/>
            </a:pPr>
            <a:fld id="{9B229AE9-CBA5-4DDE-AF1D-D68A7D7AC039}" type="slidenum">
              <a:rPr lang="en-IN"/>
              <a:pPr>
                <a:defRPr/>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55799DF-C75C-4BCC-99E3-79A65A1F6B1E}" type="datetimeFigureOut">
              <a:rPr lang="en-IN"/>
              <a:pPr>
                <a:defRPr/>
              </a:pPr>
              <a:t>16-07-2025</a:t>
            </a:fld>
            <a:endParaRPr lang="en-IN" dirty="0"/>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F6A122B5-2E57-4E53-8108-A725743B6D24}" type="slidenum">
              <a:rPr lang="en-IN"/>
              <a:pPr>
                <a:defRPr/>
              </a:pPr>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673EB8A1-B1C2-4F51-9093-FBC42F7FE889}" type="datetimeFigureOut">
              <a:rPr lang="en-IN"/>
              <a:pPr>
                <a:defRPr/>
              </a:pPr>
              <a:t>16-07-2025</a:t>
            </a:fld>
            <a:endParaRPr lang="en-IN" dirty="0"/>
          </a:p>
        </p:txBody>
      </p:sp>
      <p:sp>
        <p:nvSpPr>
          <p:cNvPr id="6" name="Footer Placeholder 21"/>
          <p:cNvSpPr>
            <a:spLocks noGrp="1"/>
          </p:cNvSpPr>
          <p:nvPr>
            <p:ph type="ftr" sz="quarter" idx="11"/>
          </p:nvPr>
        </p:nvSpPr>
        <p:spPr/>
        <p:txBody>
          <a:bodyPr/>
          <a:lstStyle>
            <a:lvl1pPr>
              <a:defRPr/>
            </a:lvl1pPr>
          </a:lstStyle>
          <a:p>
            <a:pPr>
              <a:defRPr/>
            </a:pPr>
            <a:endParaRPr lang="en-IN"/>
          </a:p>
        </p:txBody>
      </p:sp>
      <p:sp>
        <p:nvSpPr>
          <p:cNvPr id="7" name="Slide Number Placeholder 17"/>
          <p:cNvSpPr>
            <a:spLocks noGrp="1"/>
          </p:cNvSpPr>
          <p:nvPr>
            <p:ph type="sldNum" sz="quarter" idx="12"/>
          </p:nvPr>
        </p:nvSpPr>
        <p:spPr/>
        <p:txBody>
          <a:bodyPr/>
          <a:lstStyle>
            <a:lvl1pPr>
              <a:defRPr/>
            </a:lvl1pPr>
          </a:lstStyle>
          <a:p>
            <a:pPr>
              <a:defRPr/>
            </a:pPr>
            <a:fld id="{6A167EC0-3251-46E3-B29C-7C68BD61D26B}" type="slidenum">
              <a:rPr lang="en-IN"/>
              <a:pPr>
                <a:defRPr/>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p:txBody>
          <a:bodyPr/>
          <a:lstStyle>
            <a:lvl1pPr>
              <a:defRPr/>
            </a:lvl1pPr>
          </a:lstStyle>
          <a:p>
            <a:pPr>
              <a:defRPr/>
            </a:pPr>
            <a:fld id="{F89EF3F4-6133-4CEA-943D-04D0585A9652}" type="datetimeFigureOut">
              <a:rPr lang="en-IN"/>
              <a:pPr>
                <a:defRPr/>
              </a:pPr>
              <a:t>16-07-2025</a:t>
            </a:fld>
            <a:endParaRPr lang="en-IN" dirty="0"/>
          </a:p>
        </p:txBody>
      </p:sp>
      <p:sp>
        <p:nvSpPr>
          <p:cNvPr id="8" name="Footer Placeholder 21"/>
          <p:cNvSpPr>
            <a:spLocks noGrp="1"/>
          </p:cNvSpPr>
          <p:nvPr>
            <p:ph type="ftr" sz="quarter" idx="11"/>
          </p:nvPr>
        </p:nvSpPr>
        <p:spPr/>
        <p:txBody>
          <a:bodyPr/>
          <a:lstStyle>
            <a:lvl1pPr>
              <a:defRPr/>
            </a:lvl1pPr>
          </a:lstStyle>
          <a:p>
            <a:pPr>
              <a:defRPr/>
            </a:pPr>
            <a:endParaRPr lang="en-IN"/>
          </a:p>
        </p:txBody>
      </p:sp>
      <p:sp>
        <p:nvSpPr>
          <p:cNvPr id="9" name="Slide Number Placeholder 17"/>
          <p:cNvSpPr>
            <a:spLocks noGrp="1"/>
          </p:cNvSpPr>
          <p:nvPr>
            <p:ph type="sldNum" sz="quarter" idx="12"/>
          </p:nvPr>
        </p:nvSpPr>
        <p:spPr/>
        <p:txBody>
          <a:bodyPr/>
          <a:lstStyle>
            <a:lvl1pPr>
              <a:defRPr/>
            </a:lvl1pPr>
          </a:lstStyle>
          <a:p>
            <a:pPr>
              <a:defRPr/>
            </a:pPr>
            <a:fld id="{9F8C5F43-2CE4-41F6-9069-33967D564248}" type="slidenum">
              <a:rPr lang="en-IN"/>
              <a:pPr>
                <a:defRPr/>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fld id="{7030899C-E634-431E-AA79-2965069AE6C4}" type="datetimeFigureOut">
              <a:rPr lang="en-IN"/>
              <a:pPr>
                <a:defRPr/>
              </a:pPr>
              <a:t>16-07-2025</a:t>
            </a:fld>
            <a:endParaRPr lang="en-IN" dirty="0"/>
          </a:p>
        </p:txBody>
      </p:sp>
      <p:sp>
        <p:nvSpPr>
          <p:cNvPr id="4" name="Footer Placeholder 21"/>
          <p:cNvSpPr>
            <a:spLocks noGrp="1"/>
          </p:cNvSpPr>
          <p:nvPr>
            <p:ph type="ftr" sz="quarter" idx="11"/>
          </p:nvPr>
        </p:nvSpPr>
        <p:spPr/>
        <p:txBody>
          <a:bodyPr/>
          <a:lstStyle>
            <a:lvl1pPr>
              <a:defRPr/>
            </a:lvl1pPr>
          </a:lstStyle>
          <a:p>
            <a:pPr>
              <a:defRPr/>
            </a:pPr>
            <a:endParaRPr lang="en-IN"/>
          </a:p>
        </p:txBody>
      </p:sp>
      <p:sp>
        <p:nvSpPr>
          <p:cNvPr id="5" name="Slide Number Placeholder 17"/>
          <p:cNvSpPr>
            <a:spLocks noGrp="1"/>
          </p:cNvSpPr>
          <p:nvPr>
            <p:ph type="sldNum" sz="quarter" idx="12"/>
          </p:nvPr>
        </p:nvSpPr>
        <p:spPr/>
        <p:txBody>
          <a:bodyPr/>
          <a:lstStyle>
            <a:lvl1pPr>
              <a:defRPr/>
            </a:lvl1pPr>
          </a:lstStyle>
          <a:p>
            <a:pPr>
              <a:defRPr/>
            </a:pPr>
            <a:fld id="{3183C7E8-EF3E-45E2-B629-8A6C6D24927D}" type="slidenum">
              <a:rPr lang="en-IN"/>
              <a:pPr>
                <a:defRPr/>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E8966D1C-DD0A-4FC0-8EE4-4B8F1659F1F7}" type="datetimeFigureOut">
              <a:rPr lang="en-IN"/>
              <a:pPr>
                <a:defRPr/>
              </a:pPr>
              <a:t>16-07-2025</a:t>
            </a:fld>
            <a:endParaRPr lang="en-IN" dirty="0"/>
          </a:p>
        </p:txBody>
      </p:sp>
      <p:sp>
        <p:nvSpPr>
          <p:cNvPr id="3" name="Footer Placeholder 21"/>
          <p:cNvSpPr>
            <a:spLocks noGrp="1"/>
          </p:cNvSpPr>
          <p:nvPr>
            <p:ph type="ftr" sz="quarter" idx="11"/>
          </p:nvPr>
        </p:nvSpPr>
        <p:spPr/>
        <p:txBody>
          <a:bodyPr/>
          <a:lstStyle>
            <a:lvl1pPr>
              <a:defRPr/>
            </a:lvl1pPr>
          </a:lstStyle>
          <a:p>
            <a:pPr>
              <a:defRPr/>
            </a:pPr>
            <a:endParaRPr lang="en-IN"/>
          </a:p>
        </p:txBody>
      </p:sp>
      <p:sp>
        <p:nvSpPr>
          <p:cNvPr id="4" name="Slide Number Placeholder 17"/>
          <p:cNvSpPr>
            <a:spLocks noGrp="1"/>
          </p:cNvSpPr>
          <p:nvPr>
            <p:ph type="sldNum" sz="quarter" idx="12"/>
          </p:nvPr>
        </p:nvSpPr>
        <p:spPr/>
        <p:txBody>
          <a:bodyPr/>
          <a:lstStyle>
            <a:lvl1pPr>
              <a:defRPr/>
            </a:lvl1pPr>
          </a:lstStyle>
          <a:p>
            <a:pPr>
              <a:defRPr/>
            </a:pPr>
            <a:fld id="{33C90ECE-B1ED-4F9C-A300-2740C64BAB33}" type="slidenum">
              <a:rPr lang="en-IN"/>
              <a:pPr>
                <a:defRPr/>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73484AA0-E8D3-4F9D-A762-3FB594D1945A}" type="datetimeFigureOut">
              <a:rPr lang="en-IN"/>
              <a:pPr>
                <a:defRPr/>
              </a:pPr>
              <a:t>16-07-2025</a:t>
            </a:fld>
            <a:endParaRPr lang="en-IN" dirty="0"/>
          </a:p>
        </p:txBody>
      </p:sp>
      <p:sp>
        <p:nvSpPr>
          <p:cNvPr id="6" name="Footer Placeholder 21"/>
          <p:cNvSpPr>
            <a:spLocks noGrp="1"/>
          </p:cNvSpPr>
          <p:nvPr>
            <p:ph type="ftr" sz="quarter" idx="11"/>
          </p:nvPr>
        </p:nvSpPr>
        <p:spPr/>
        <p:txBody>
          <a:bodyPr/>
          <a:lstStyle>
            <a:lvl1pPr>
              <a:defRPr/>
            </a:lvl1pPr>
          </a:lstStyle>
          <a:p>
            <a:pPr>
              <a:defRPr/>
            </a:pPr>
            <a:endParaRPr lang="en-IN"/>
          </a:p>
        </p:txBody>
      </p:sp>
      <p:sp>
        <p:nvSpPr>
          <p:cNvPr id="7" name="Slide Number Placeholder 17"/>
          <p:cNvSpPr>
            <a:spLocks noGrp="1"/>
          </p:cNvSpPr>
          <p:nvPr>
            <p:ph type="sldNum" sz="quarter" idx="12"/>
          </p:nvPr>
        </p:nvSpPr>
        <p:spPr/>
        <p:txBody>
          <a:bodyPr/>
          <a:lstStyle>
            <a:lvl1pPr>
              <a:defRPr/>
            </a:lvl1pPr>
          </a:lstStyle>
          <a:p>
            <a:pPr>
              <a:defRPr/>
            </a:pPr>
            <a:fld id="{9602BC07-1E2A-438E-B887-3F29D2A2B0A2}" type="slidenum">
              <a:rPr lang="en-IN"/>
              <a:pPr>
                <a:defRPr/>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smtClean="0"/>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smtClean="0"/>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dirty="0" smtClean="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05BAD39C-40CD-4D69-A0E8-17F75EFE393E}" type="datetimeFigureOut">
              <a:rPr lang="en-IN"/>
              <a:pPr>
                <a:defRPr/>
              </a:pPr>
              <a:t>16-07-2025</a:t>
            </a:fld>
            <a:endParaRPr lang="en-IN" dirty="0"/>
          </a:p>
        </p:txBody>
      </p:sp>
      <p:sp>
        <p:nvSpPr>
          <p:cNvPr id="10" name="Footer Placeholder 5"/>
          <p:cNvSpPr>
            <a:spLocks noGrp="1"/>
          </p:cNvSpPr>
          <p:nvPr>
            <p:ph type="ftr" sz="quarter" idx="11"/>
          </p:nvPr>
        </p:nvSpPr>
        <p:spPr/>
        <p:txBody>
          <a:bodyPr/>
          <a:lstStyle>
            <a:lvl1pPr>
              <a:defRPr/>
            </a:lvl1pPr>
          </a:lstStyle>
          <a:p>
            <a:pPr>
              <a:defRPr/>
            </a:pPr>
            <a:endParaRPr lang="en-IN"/>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B0D90B72-3BC3-46CC-8BF8-FC07876B4ABF}" type="slidenum">
              <a:rPr lang="en-IN"/>
              <a:pPr>
                <a:defRPr/>
              </a:pPr>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25A3029F-817D-4558-8ED6-674BEB28B659}" type="datetimeFigureOut">
              <a:rPr lang="en-IN"/>
              <a:pPr>
                <a:defRPr/>
              </a:pPr>
              <a:t>16-07-2025</a:t>
            </a:fld>
            <a:endParaRPr lang="en-IN" dirty="0"/>
          </a:p>
        </p:txBody>
      </p:sp>
      <p:sp>
        <p:nvSpPr>
          <p:cNvPr id="5" name="Footer Placeholder 21"/>
          <p:cNvSpPr>
            <a:spLocks noGrp="1"/>
          </p:cNvSpPr>
          <p:nvPr>
            <p:ph type="ftr" sz="quarter" idx="11"/>
          </p:nvPr>
        </p:nvSpPr>
        <p:spPr/>
        <p:txBody>
          <a:bodyPr/>
          <a:lstStyle>
            <a:lvl1pPr>
              <a:defRPr/>
            </a:lvl1pPr>
          </a:lstStyle>
          <a:p>
            <a:pPr>
              <a:defRPr/>
            </a:pPr>
            <a:endParaRPr lang="en-IN"/>
          </a:p>
        </p:txBody>
      </p:sp>
      <p:sp>
        <p:nvSpPr>
          <p:cNvPr id="6" name="Slide Number Placeholder 17"/>
          <p:cNvSpPr>
            <a:spLocks noGrp="1"/>
          </p:cNvSpPr>
          <p:nvPr>
            <p:ph type="sldNum" sz="quarter" idx="12"/>
          </p:nvPr>
        </p:nvSpPr>
        <p:spPr/>
        <p:txBody>
          <a:bodyPr/>
          <a:lstStyle>
            <a:lvl1pPr>
              <a:defRPr/>
            </a:lvl1pPr>
          </a:lstStyle>
          <a:p>
            <a:pPr>
              <a:defRPr/>
            </a:pPr>
            <a:fld id="{8570F1A8-7291-4232-92C4-CD68E71BEC0F}" type="slidenum">
              <a:rPr lang="en-IN"/>
              <a:pPr>
                <a:defRPr/>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F0827A94-4BD4-4020-B437-3BC7E77664FF}" type="datetimeFigureOut">
              <a:rPr lang="en-IN"/>
              <a:pPr>
                <a:defRPr/>
              </a:pPr>
              <a:t>16-07-2025</a:t>
            </a:fld>
            <a:endParaRPr lang="en-IN" dirty="0"/>
          </a:p>
        </p:txBody>
      </p:sp>
      <p:sp>
        <p:nvSpPr>
          <p:cNvPr id="5" name="Footer Placeholder 21"/>
          <p:cNvSpPr>
            <a:spLocks noGrp="1"/>
          </p:cNvSpPr>
          <p:nvPr>
            <p:ph type="ftr" sz="quarter" idx="11"/>
          </p:nvPr>
        </p:nvSpPr>
        <p:spPr/>
        <p:txBody>
          <a:bodyPr/>
          <a:lstStyle>
            <a:lvl1pPr>
              <a:defRPr/>
            </a:lvl1pPr>
          </a:lstStyle>
          <a:p>
            <a:pPr>
              <a:defRPr/>
            </a:pPr>
            <a:endParaRPr lang="en-IN"/>
          </a:p>
        </p:txBody>
      </p:sp>
      <p:sp>
        <p:nvSpPr>
          <p:cNvPr id="6" name="Slide Number Placeholder 17"/>
          <p:cNvSpPr>
            <a:spLocks noGrp="1"/>
          </p:cNvSpPr>
          <p:nvPr>
            <p:ph type="sldNum" sz="quarter" idx="12"/>
          </p:nvPr>
        </p:nvSpPr>
        <p:spPr/>
        <p:txBody>
          <a:bodyPr/>
          <a:lstStyle>
            <a:lvl1pPr>
              <a:defRPr/>
            </a:lvl1pPr>
          </a:lstStyle>
          <a:p>
            <a:pPr>
              <a:defRPr/>
            </a:pPr>
            <a:fld id="{F05E1A26-1424-4475-94D3-7D6269BE8D23}" type="slidenum">
              <a:rPr lang="en-IN"/>
              <a:pPr>
                <a:defRPr/>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1028"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smtClean="0"/>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9BAC1A92-5C76-485A-B13A-2D0E280A2A23}" type="datetimeFigureOut">
              <a:rPr lang="en-IN"/>
              <a:pPr>
                <a:defRPr/>
              </a:pPr>
              <a:t>16-07-2025</a:t>
            </a:fld>
            <a:endParaRPr lang="en-IN"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endParaRPr lang="en-I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466C007C-3DA0-4184-AA0D-68437DFDB30B}" type="slidenum">
              <a:rPr lang="en-IN"/>
              <a:pPr>
                <a:defRPr/>
              </a:pPr>
              <a:t>‹#›</a:t>
            </a:fld>
            <a:endParaRPr lang="en-IN" dirty="0"/>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grpSp>
    </p:spTree>
  </p:cSld>
  <p:clrMap bg1="lt1" tx1="dk1" bg2="lt2" tx2="dk2" accent1="accent1" accent2="accent2" accent3="accent3" accent4="accent4" accent5="accent5" accent6="accent6" hlink="hlink" folHlink="folHlink"/>
  <p:sldLayoutIdLst>
    <p:sldLayoutId id="2147483769" r:id="rId1"/>
    <p:sldLayoutId id="2147483761" r:id="rId2"/>
    <p:sldLayoutId id="2147483770" r:id="rId3"/>
    <p:sldLayoutId id="2147483762" r:id="rId4"/>
    <p:sldLayoutId id="2147483763" r:id="rId5"/>
    <p:sldLayoutId id="2147483764" r:id="rId6"/>
    <p:sldLayoutId id="2147483765" r:id="rId7"/>
    <p:sldLayoutId id="2147483766" r:id="rId8"/>
    <p:sldLayoutId id="2147483771" r:id="rId9"/>
    <p:sldLayoutId id="2147483767" r:id="rId10"/>
    <p:sldLayoutId id="2147483768" r:id="rId11"/>
  </p:sldLayoutIdLst>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defRPr>
      </a:lvl2pPr>
      <a:lvl3pPr algn="l" rtl="0" eaLnBrk="0" fontAlgn="base" hangingPunct="0">
        <a:spcBef>
          <a:spcPct val="0"/>
        </a:spcBef>
        <a:spcAft>
          <a:spcPct val="0"/>
        </a:spcAft>
        <a:defRPr sz="5000">
          <a:solidFill>
            <a:schemeClr val="tx2"/>
          </a:solidFill>
          <a:latin typeface="Calibri" pitchFamily="34" charset="0"/>
        </a:defRPr>
      </a:lvl3pPr>
      <a:lvl4pPr algn="l" rtl="0" eaLnBrk="0" fontAlgn="base" hangingPunct="0">
        <a:spcBef>
          <a:spcPct val="0"/>
        </a:spcBef>
        <a:spcAft>
          <a:spcPct val="0"/>
        </a:spcAft>
        <a:defRPr sz="5000">
          <a:solidFill>
            <a:schemeClr val="tx2"/>
          </a:solidFill>
          <a:latin typeface="Calibri" pitchFamily="34" charset="0"/>
        </a:defRPr>
      </a:lvl4pPr>
      <a:lvl5pPr algn="l" rtl="0" eaLnBrk="0" fontAlgn="base" hangingPunct="0">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sz="4400" dirty="0" smtClean="0">
                <a:solidFill>
                  <a:schemeClr val="tx1"/>
                </a:solidFill>
              </a:rPr>
              <a:t>Who is an Entrepreneur............</a:t>
            </a:r>
            <a:endParaRPr lang="en-US" sz="4400" dirty="0">
              <a:solidFill>
                <a:schemeClr val="tx1"/>
              </a:solidFill>
            </a:endParaRPr>
          </a:p>
        </p:txBody>
      </p:sp>
      <p:pic>
        <p:nvPicPr>
          <p:cNvPr id="4" name="Picture 2" descr="C:\Users\Dr P K  Jain\Desktop\images.jpg"/>
          <p:cNvPicPr>
            <a:picLocks noGrp="1" noChangeAspect="1" noChangeArrowheads="1"/>
          </p:cNvPicPr>
          <p:nvPr>
            <p:ph idx="1"/>
          </p:nvPr>
        </p:nvPicPr>
        <p:blipFill>
          <a:blip r:embed="rId2">
            <a:clrChange>
              <a:clrFrom>
                <a:srgbClr val="FFFFFF"/>
              </a:clrFrom>
              <a:clrTo>
                <a:srgbClr val="FFFFFF">
                  <a:alpha val="0"/>
                </a:srgbClr>
              </a:clrTo>
            </a:clrChange>
          </a:blip>
          <a:srcRect/>
          <a:stretch>
            <a:fillRect/>
          </a:stretch>
        </p:blipFill>
        <p:spPr>
          <a:xfrm>
            <a:off x="1676400" y="1981200"/>
            <a:ext cx="6400800" cy="457200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3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313" y="549275"/>
            <a:ext cx="8229600" cy="1355725"/>
          </a:xfrm>
        </p:spPr>
        <p:txBody>
          <a:bodyPr>
            <a:normAutofit fontScale="90000"/>
          </a:bodyPr>
          <a:lstStyle/>
          <a:p>
            <a:pPr algn="ctr" eaLnBrk="1" fontAlgn="auto" hangingPunct="1">
              <a:spcAft>
                <a:spcPts val="0"/>
              </a:spcAft>
              <a:defRPr/>
            </a:pPr>
            <a:r>
              <a:rPr lang="en-IN" sz="4400" dirty="0" smtClean="0"/>
              <a:t> </a:t>
            </a:r>
            <a:r>
              <a:rPr lang="en-IN" dirty="0" smtClean="0"/>
              <a:t/>
            </a:r>
            <a:br>
              <a:rPr lang="en-IN" dirty="0" smtClean="0"/>
            </a:br>
            <a:endParaRPr lang="en-IN" dirty="0"/>
          </a:p>
        </p:txBody>
      </p:sp>
      <p:sp>
        <p:nvSpPr>
          <p:cNvPr id="3" name="Content Placeholder 2"/>
          <p:cNvSpPr>
            <a:spLocks noGrp="1"/>
          </p:cNvSpPr>
          <p:nvPr>
            <p:ph idx="1"/>
          </p:nvPr>
        </p:nvSpPr>
        <p:spPr>
          <a:xfrm>
            <a:off x="533400" y="762000"/>
            <a:ext cx="8229600" cy="4953000"/>
          </a:xfrm>
        </p:spPr>
        <p:txBody>
          <a:bodyPr>
            <a:normAutofit/>
          </a:bodyPr>
          <a:lstStyle/>
          <a:p>
            <a:pPr marL="274320" indent="-274320" eaLnBrk="1" fontAlgn="auto" hangingPunct="1">
              <a:spcAft>
                <a:spcPts val="0"/>
              </a:spcAft>
              <a:buClr>
                <a:schemeClr val="accent3"/>
              </a:buClr>
              <a:buFont typeface="Wingdings 2"/>
              <a:buNone/>
              <a:defRPr/>
            </a:pPr>
            <a:r>
              <a:rPr lang="en-IN" sz="2400" dirty="0" smtClean="0"/>
              <a:t>The term 'Entrepreneur' -French word '</a:t>
            </a:r>
            <a:r>
              <a:rPr lang="en-IN" sz="2400" i="1" dirty="0" err="1" smtClean="0"/>
              <a:t>Entreprendre</a:t>
            </a:r>
            <a:r>
              <a:rPr lang="en-IN" sz="2400" dirty="0" smtClean="0"/>
              <a:t>’</a:t>
            </a:r>
            <a:r>
              <a:rPr lang="en-US" sz="2400" dirty="0" smtClean="0"/>
              <a:t>    (meaning to undertake certain activities)</a:t>
            </a:r>
          </a:p>
          <a:p>
            <a:pPr marL="274320" indent="-274320" eaLnBrk="1" fontAlgn="auto" hangingPunct="1">
              <a:spcAft>
                <a:spcPts val="0"/>
              </a:spcAft>
              <a:buClr>
                <a:schemeClr val="accent3"/>
              </a:buClr>
              <a:buFont typeface="Wingdings 2"/>
              <a:buNone/>
              <a:defRPr/>
            </a:pPr>
            <a:endParaRPr lang="en-US" sz="2400" dirty="0" smtClean="0"/>
          </a:p>
          <a:p>
            <a:pPr marL="342900" indent="-342900" eaLnBrk="1" fontAlgn="auto" hangingPunct="1">
              <a:spcAft>
                <a:spcPts val="0"/>
              </a:spcAft>
              <a:buClr>
                <a:schemeClr val="accent3"/>
              </a:buClr>
              <a:buFont typeface="Wingdings 2"/>
              <a:buNone/>
              <a:defRPr/>
            </a:pPr>
            <a:r>
              <a:rPr lang="en-US" sz="2400" dirty="0" smtClean="0">
                <a:solidFill>
                  <a:schemeClr val="tx2">
                    <a:lumMod val="50000"/>
                  </a:schemeClr>
                </a:solidFill>
              </a:rPr>
              <a:t>1</a:t>
            </a:r>
            <a:r>
              <a:rPr lang="en-US" sz="2400" dirty="0" smtClean="0"/>
              <a:t>) Produces a product</a:t>
            </a:r>
          </a:p>
          <a:p>
            <a:pPr marL="342900" indent="-342900" eaLnBrk="1" fontAlgn="auto" hangingPunct="1">
              <a:spcAft>
                <a:spcPts val="0"/>
              </a:spcAft>
              <a:buClr>
                <a:schemeClr val="accent3"/>
              </a:buClr>
              <a:buFont typeface="Wingdings 2"/>
              <a:buNone/>
              <a:defRPr/>
            </a:pPr>
            <a:r>
              <a:rPr lang="en-US" sz="2400" dirty="0" smtClean="0"/>
              <a:t>2) Sells  &amp; market the product</a:t>
            </a:r>
          </a:p>
          <a:p>
            <a:pPr marL="342900" indent="-342900" eaLnBrk="1" fontAlgn="auto" hangingPunct="1">
              <a:spcAft>
                <a:spcPts val="0"/>
              </a:spcAft>
              <a:buClr>
                <a:schemeClr val="accent3"/>
              </a:buClr>
              <a:buFont typeface="Wingdings 2"/>
              <a:buNone/>
              <a:defRPr/>
            </a:pPr>
            <a:r>
              <a:rPr lang="en-US" sz="2400" dirty="0" smtClean="0"/>
              <a:t>3) Bear overheads like :-</a:t>
            </a:r>
          </a:p>
          <a:p>
            <a:pPr marL="342900" indent="-342900" eaLnBrk="1" fontAlgn="auto" hangingPunct="1">
              <a:spcAft>
                <a:spcPts val="0"/>
              </a:spcAft>
              <a:buClr>
                <a:schemeClr val="accent3"/>
              </a:buClr>
              <a:buFont typeface="Wingdings 2"/>
              <a:buNone/>
              <a:defRPr/>
            </a:pPr>
            <a:r>
              <a:rPr lang="en-US" sz="2400" dirty="0" smtClean="0"/>
              <a:t> *Pays rent of Land and building</a:t>
            </a:r>
          </a:p>
          <a:p>
            <a:pPr marL="342900" indent="-342900" eaLnBrk="1" fontAlgn="auto" hangingPunct="1">
              <a:spcAft>
                <a:spcPts val="0"/>
              </a:spcAft>
              <a:buClr>
                <a:schemeClr val="accent3"/>
              </a:buClr>
              <a:buFont typeface="Wingdings 2"/>
              <a:buNone/>
              <a:defRPr/>
            </a:pPr>
            <a:r>
              <a:rPr lang="en-US" sz="2400" dirty="0" smtClean="0"/>
              <a:t> *wages to labor</a:t>
            </a:r>
          </a:p>
          <a:p>
            <a:pPr marL="342900" indent="-342900" eaLnBrk="1" fontAlgn="auto" hangingPunct="1">
              <a:spcAft>
                <a:spcPts val="0"/>
              </a:spcAft>
              <a:buClr>
                <a:schemeClr val="accent3"/>
              </a:buClr>
              <a:buFont typeface="Wingdings 2"/>
              <a:buNone/>
              <a:defRPr/>
            </a:pPr>
            <a:r>
              <a:rPr lang="en-US" sz="2400" dirty="0" smtClean="0"/>
              <a:t> *interest on capital </a:t>
            </a:r>
          </a:p>
          <a:p>
            <a:pPr marL="342900" indent="-342900" eaLnBrk="1" fontAlgn="auto" hangingPunct="1">
              <a:spcAft>
                <a:spcPts val="0"/>
              </a:spcAft>
              <a:buClr>
                <a:schemeClr val="accent3"/>
              </a:buClr>
              <a:buFont typeface="Wingdings 2"/>
              <a:buNone/>
              <a:defRPr/>
            </a:pPr>
            <a:r>
              <a:rPr lang="en-US" sz="2400" dirty="0" smtClean="0"/>
              <a:t> *later generate profit</a:t>
            </a:r>
            <a:endParaRPr lang="en-I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algn="ctr" eaLnBrk="1" hangingPunct="1"/>
            <a:r>
              <a:rPr lang="en-US" sz="4400" b="1" dirty="0" smtClean="0">
                <a:solidFill>
                  <a:schemeClr val="tx1"/>
                </a:solidFill>
                <a:cs typeface="Times New Roman" pitchFamily="18" charset="0"/>
              </a:rPr>
              <a:t>Working Definition</a:t>
            </a:r>
            <a:endParaRPr lang="en-US" sz="4400" b="1" dirty="0" smtClean="0">
              <a:solidFill>
                <a:schemeClr val="tx1"/>
              </a:solidFill>
            </a:endParaRPr>
          </a:p>
        </p:txBody>
      </p:sp>
      <p:sp>
        <p:nvSpPr>
          <p:cNvPr id="8195" name="Content Placeholder 2"/>
          <p:cNvSpPr>
            <a:spLocks noGrp="1"/>
          </p:cNvSpPr>
          <p:nvPr>
            <p:ph idx="1"/>
          </p:nvPr>
        </p:nvSpPr>
        <p:spPr/>
        <p:txBody>
          <a:bodyPr/>
          <a:lstStyle/>
          <a:p>
            <a:pPr algn="just" eaLnBrk="1" hangingPunct="1">
              <a:buFont typeface="Wingdings 2" pitchFamily="18" charset="2"/>
              <a:buNone/>
            </a:pPr>
            <a:r>
              <a:rPr lang="en-US" dirty="0" smtClean="0"/>
              <a:t> </a:t>
            </a:r>
            <a:r>
              <a:rPr lang="en-US" sz="2400" dirty="0" smtClean="0"/>
              <a:t>An entrepreneur is a person who combines various factors of production, processes raw material, converts the raw material into a finished product and creates utility and sells the produce in the market to earn profit.</a:t>
            </a:r>
            <a:endParaRPr lang="en-IN" sz="2400" dirty="0" smtClean="0"/>
          </a:p>
          <a:p>
            <a:pPr algn="just" eaLnBrk="1" hangingPunct="1">
              <a:buFont typeface="Wingdings 2" pitchFamily="18" charset="2"/>
              <a:buNone/>
            </a:pPr>
            <a:r>
              <a:rPr lang="en-US" sz="2400" dirty="0" smtClean="0"/>
              <a:t>  </a:t>
            </a:r>
          </a:p>
          <a:p>
            <a:pPr algn="just" eaLnBrk="1" hangingPunct="1">
              <a:buFont typeface="Wingdings 2" pitchFamily="18" charset="2"/>
              <a:buNone/>
            </a:pPr>
            <a:r>
              <a:rPr lang="en-US" sz="2400" dirty="0" smtClean="0"/>
              <a:t>          ENTREPRENEURS ARE MADE AND NOT BORN.</a:t>
            </a:r>
          </a:p>
          <a:p>
            <a:pPr eaLnBrk="1" hangingPunct="1"/>
            <a:endParaRPr lang="en-US"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C:\Users\Administrator\Desktop\002.jpg"/>
          <p:cNvPicPr>
            <a:picLocks noChangeAspect="1" noChangeArrowheads="1"/>
          </p:cNvPicPr>
          <p:nvPr/>
        </p:nvPicPr>
        <p:blipFill>
          <a:blip r:embed="rId2"/>
          <a:srcRect/>
          <a:stretch>
            <a:fillRect/>
          </a:stretch>
        </p:blipFill>
        <p:spPr bwMode="auto">
          <a:xfrm>
            <a:off x="914400" y="914400"/>
            <a:ext cx="6629400" cy="5708016"/>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smtClean="0">
                <a:solidFill>
                  <a:schemeClr val="tx1"/>
                </a:solidFill>
              </a:rPr>
              <a:t>ENTERPRISE :</a:t>
            </a:r>
            <a:endParaRPr lang="en-US" sz="4400" b="1" dirty="0">
              <a:solidFill>
                <a:schemeClr val="tx1"/>
              </a:solidFill>
            </a:endParaRPr>
          </a:p>
        </p:txBody>
      </p:sp>
      <p:sp>
        <p:nvSpPr>
          <p:cNvPr id="3" name="Rectangle 2"/>
          <p:cNvSpPr/>
          <p:nvPr/>
        </p:nvSpPr>
        <p:spPr>
          <a:xfrm>
            <a:off x="838200" y="2413338"/>
            <a:ext cx="7543800" cy="1508105"/>
          </a:xfrm>
          <a:prstGeom prst="rect">
            <a:avLst/>
          </a:prstGeom>
        </p:spPr>
        <p:txBody>
          <a:bodyPr wrap="square">
            <a:spAutoFit/>
          </a:bodyPr>
          <a:lstStyle/>
          <a:p>
            <a:r>
              <a:rPr lang="en-US" sz="2800" dirty="0" smtClean="0">
                <a:latin typeface="+mn-lt"/>
              </a:rPr>
              <a:t>Entrepreneurial activity, especially when accompanied by initiative and resourcefulness.</a:t>
            </a:r>
            <a:r>
              <a:rPr lang="en-US" sz="3600" dirty="0" smtClean="0">
                <a:latin typeface="+mn-lt"/>
              </a:rPr>
              <a:t/>
            </a:r>
            <a:br>
              <a:rPr lang="en-US" sz="3600" dirty="0" smtClean="0">
                <a:latin typeface="+mn-lt"/>
              </a:rPr>
            </a:b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1"/>
            <a:ext cx="8229600" cy="2057400"/>
          </a:xfrm>
        </p:spPr>
        <p:txBody>
          <a:bodyPr>
            <a:normAutofit fontScale="90000"/>
          </a:bodyPr>
          <a:lstStyle/>
          <a:p>
            <a:pPr eaLnBrk="1" fontAlgn="auto" hangingPunct="1">
              <a:spcAft>
                <a:spcPts val="0"/>
              </a:spcAft>
              <a:defRPr/>
            </a:pPr>
            <a:r>
              <a:rPr lang="en-US" sz="4400" b="1" dirty="0">
                <a:solidFill>
                  <a:schemeClr val="tx1"/>
                </a:solidFill>
                <a:cs typeface="Times New Roman" panose="02020603050405020304" pitchFamily="18" charset="0"/>
              </a:rPr>
              <a:t>E</a:t>
            </a:r>
            <a:r>
              <a:rPr lang="en-US" sz="4900" b="1" dirty="0">
                <a:solidFill>
                  <a:schemeClr val="tx1"/>
                </a:solidFill>
                <a:cs typeface="Times New Roman" panose="02020603050405020304" pitchFamily="18" charset="0"/>
              </a:rPr>
              <a:t>NTREPRENEURSHIP</a:t>
            </a:r>
            <a:r>
              <a:rPr lang="en-US" sz="4400" b="1" dirty="0">
                <a:solidFill>
                  <a:schemeClr val="tx1"/>
                </a:solidFill>
                <a:cs typeface="Times New Roman" panose="02020603050405020304" pitchFamily="18" charset="0"/>
              </a:rPr>
              <a:t>  </a:t>
            </a:r>
            <a:r>
              <a:rPr lang="en-US" sz="3600" dirty="0" smtClean="0">
                <a:solidFill>
                  <a:schemeClr val="tx1"/>
                </a:solidFill>
                <a:latin typeface="+mn-lt"/>
                <a:cs typeface="Times New Roman" panose="02020603050405020304" pitchFamily="18" charset="0"/>
              </a:rPr>
              <a:t/>
            </a:r>
            <a:br>
              <a:rPr lang="en-US" sz="3600" dirty="0" smtClean="0">
                <a:solidFill>
                  <a:schemeClr val="tx1"/>
                </a:solidFill>
                <a:latin typeface="+mn-lt"/>
                <a:cs typeface="Times New Roman" panose="02020603050405020304" pitchFamily="18" charset="0"/>
              </a:rPr>
            </a:br>
            <a:r>
              <a:rPr lang="en-US" sz="2700" dirty="0" smtClean="0">
                <a:solidFill>
                  <a:schemeClr val="tx1"/>
                </a:solidFill>
                <a:latin typeface="+mn-lt"/>
                <a:cs typeface="Times New Roman" panose="02020603050405020304" pitchFamily="18" charset="0"/>
              </a:rPr>
              <a:t>may </a:t>
            </a:r>
            <a:r>
              <a:rPr lang="en-US" sz="2700" dirty="0">
                <a:solidFill>
                  <a:schemeClr val="tx1"/>
                </a:solidFill>
                <a:latin typeface="+mn-lt"/>
                <a:cs typeface="Times New Roman" panose="02020603050405020304" pitchFamily="18" charset="0"/>
              </a:rPr>
              <a:t>defined in various ways, but the four key elements involved in it are:</a:t>
            </a:r>
            <a:r>
              <a:rPr lang="en-US" sz="5400" dirty="0">
                <a:latin typeface="Times New Roman" panose="02020603050405020304" pitchFamily="18" charset="0"/>
                <a:cs typeface="Times New Roman" panose="02020603050405020304" pitchFamily="18" charset="0"/>
              </a:rPr>
              <a:t/>
            </a:r>
            <a:br>
              <a:rPr lang="en-US" sz="5400" dirty="0">
                <a:latin typeface="Times New Roman" panose="02020603050405020304" pitchFamily="18" charset="0"/>
                <a:cs typeface="Times New Roman" panose="02020603050405020304" pitchFamily="18" charset="0"/>
              </a:rPr>
            </a:br>
            <a:endParaRPr lang="en-US" dirty="0"/>
          </a:p>
        </p:txBody>
      </p:sp>
      <p:sp>
        <p:nvSpPr>
          <p:cNvPr id="10243" name="Content Placeholder 2"/>
          <p:cNvSpPr>
            <a:spLocks noGrp="1"/>
          </p:cNvSpPr>
          <p:nvPr>
            <p:ph idx="1"/>
          </p:nvPr>
        </p:nvSpPr>
        <p:spPr>
          <a:xfrm>
            <a:off x="457200" y="1981200"/>
            <a:ext cx="8229600" cy="2286000"/>
          </a:xfrm>
        </p:spPr>
        <p:txBody>
          <a:bodyPr/>
          <a:lstStyle/>
          <a:p>
            <a:pPr eaLnBrk="1" hangingPunct="1">
              <a:buFont typeface="Arial" charset="0"/>
              <a:buAutoNum type="romanLcPeriod"/>
            </a:pPr>
            <a:r>
              <a:rPr lang="en-US" sz="2400" dirty="0" smtClean="0">
                <a:cs typeface="Times New Roman" pitchFamily="18" charset="0"/>
              </a:rPr>
              <a:t>Innovation.</a:t>
            </a:r>
          </a:p>
          <a:p>
            <a:pPr eaLnBrk="1" hangingPunct="1">
              <a:buFont typeface="Arial" charset="0"/>
              <a:buAutoNum type="romanLcPeriod"/>
            </a:pPr>
            <a:r>
              <a:rPr lang="en-US" sz="2400" dirty="0" smtClean="0">
                <a:cs typeface="Times New Roman" pitchFamily="18" charset="0"/>
              </a:rPr>
              <a:t>Risk-taking.</a:t>
            </a:r>
          </a:p>
          <a:p>
            <a:pPr eaLnBrk="1" hangingPunct="1">
              <a:buFont typeface="Arial" charset="0"/>
              <a:buAutoNum type="romanLcPeriod"/>
            </a:pPr>
            <a:r>
              <a:rPr lang="en-US" sz="2400" dirty="0" smtClean="0">
                <a:cs typeface="Times New Roman" pitchFamily="18" charset="0"/>
              </a:rPr>
              <a:t>Vision.</a:t>
            </a:r>
          </a:p>
          <a:p>
            <a:pPr eaLnBrk="1" hangingPunct="1">
              <a:buFont typeface="Arial" charset="0"/>
              <a:buAutoNum type="romanLcPeriod"/>
            </a:pPr>
            <a:r>
              <a:rPr lang="en-US" sz="2400" dirty="0" smtClean="0">
                <a:cs typeface="Times New Roman" pitchFamily="18" charset="0"/>
              </a:rPr>
              <a:t>Organizing skil</a:t>
            </a:r>
            <a:r>
              <a:rPr lang="en-US" sz="3200" dirty="0" smtClean="0">
                <a:latin typeface="Times New Roman" pitchFamily="18" charset="0"/>
                <a:cs typeface="Times New Roman" pitchFamily="18" charset="0"/>
              </a:rPr>
              <a:t>l.</a:t>
            </a:r>
            <a:endParaRPr lang="en-IN" sz="3200" dirty="0" smtClean="0">
              <a:latin typeface="Times New Roman" pitchFamily="18" charset="0"/>
              <a:cs typeface="Times New Roman" pitchFamily="18" charset="0"/>
            </a:endParaRPr>
          </a:p>
          <a:p>
            <a:pPr eaLnBrk="1" hangingPunct="1"/>
            <a:endParaRPr lang="en-US" dirty="0" smtClean="0"/>
          </a:p>
        </p:txBody>
      </p:sp>
      <p:sp>
        <p:nvSpPr>
          <p:cNvPr id="4" name="Rectangle 3"/>
          <p:cNvSpPr/>
          <p:nvPr/>
        </p:nvSpPr>
        <p:spPr>
          <a:xfrm>
            <a:off x="533400" y="4114800"/>
            <a:ext cx="7924800" cy="1569660"/>
          </a:xfrm>
          <a:prstGeom prst="rect">
            <a:avLst/>
          </a:prstGeom>
        </p:spPr>
        <p:txBody>
          <a:bodyPr wrap="square">
            <a:spAutoFit/>
          </a:bodyPr>
          <a:lstStyle/>
          <a:p>
            <a:r>
              <a:rPr lang="en-US" sz="2400" dirty="0" smtClean="0">
                <a:latin typeface="+mn-lt"/>
              </a:rPr>
              <a:t>The capacity and willingness to develop, organize and manage a business venture along with any of its risks in order to make a profit. The most obvious example of entrepreneurship is the starting of new businesses. </a:t>
            </a:r>
            <a:endParaRPr lang="en-US" sz="2400" dirty="0">
              <a:latin typeface="+mn-l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sz="4400" b="1" dirty="0" smtClean="0">
                <a:solidFill>
                  <a:schemeClr val="tx1"/>
                </a:solidFill>
              </a:rPr>
              <a:t>Types of Participants</a:t>
            </a:r>
          </a:p>
        </p:txBody>
      </p:sp>
      <p:sp>
        <p:nvSpPr>
          <p:cNvPr id="11267" name="Content Placeholder 2"/>
          <p:cNvSpPr>
            <a:spLocks noGrp="1"/>
          </p:cNvSpPr>
          <p:nvPr>
            <p:ph idx="1"/>
          </p:nvPr>
        </p:nvSpPr>
        <p:spPr/>
        <p:txBody>
          <a:bodyPr/>
          <a:lstStyle/>
          <a:p>
            <a:pPr eaLnBrk="1" hangingPunct="1"/>
            <a:r>
              <a:rPr lang="en-US" sz="2400" dirty="0" smtClean="0"/>
              <a:t>DOERS : Achievers</a:t>
            </a:r>
          </a:p>
          <a:p>
            <a:pPr eaLnBrk="1" hangingPunct="1"/>
            <a:r>
              <a:rPr lang="en-US" sz="2400" dirty="0" smtClean="0"/>
              <a:t>DREAMERS : Doing something but not their dream project</a:t>
            </a:r>
          </a:p>
          <a:p>
            <a:pPr eaLnBrk="1" hangingPunct="1"/>
            <a:r>
              <a:rPr lang="en-US" sz="2400" dirty="0" smtClean="0"/>
              <a:t>DWADLERS : Undecided</a:t>
            </a:r>
          </a:p>
          <a:p>
            <a:pPr eaLnBrk="1" hangingPunct="1"/>
            <a:r>
              <a:rPr lang="en-US" sz="2400" dirty="0" smtClean="0"/>
              <a:t>DUDS : Abandoned their ideas of being entrepreneur</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1295400"/>
          </a:xfrm>
        </p:spPr>
        <p:txBody>
          <a:bodyPr>
            <a:normAutofit fontScale="90000"/>
          </a:bodyPr>
          <a:lstStyle/>
          <a:p>
            <a:pPr eaLnBrk="1" fontAlgn="auto" hangingPunct="1">
              <a:spcAft>
                <a:spcPts val="0"/>
              </a:spcAft>
              <a:defRPr/>
            </a:pPr>
            <a:r>
              <a:rPr lang="en-US" sz="4900" b="1" dirty="0" smtClean="0">
                <a:solidFill>
                  <a:schemeClr val="tx1"/>
                </a:solidFill>
              </a:rPr>
              <a:t>Entrepreneurial Characteristics</a:t>
            </a:r>
            <a:r>
              <a:rPr lang="en-US" sz="5400" dirty="0" smtClean="0">
                <a:solidFill>
                  <a:schemeClr val="tx1"/>
                </a:solidFill>
              </a:rPr>
              <a:t/>
            </a:r>
            <a:br>
              <a:rPr lang="en-US" sz="5400" dirty="0" smtClean="0">
                <a:solidFill>
                  <a:schemeClr val="tx1"/>
                </a:solidFill>
              </a:rPr>
            </a:br>
            <a:endParaRPr lang="en-US" dirty="0">
              <a:solidFill>
                <a:schemeClr val="tx1"/>
              </a:solidFill>
            </a:endParaRPr>
          </a:p>
        </p:txBody>
      </p:sp>
      <p:sp>
        <p:nvSpPr>
          <p:cNvPr id="3" name="Content Placeholder 2"/>
          <p:cNvSpPr>
            <a:spLocks noGrp="1"/>
          </p:cNvSpPr>
          <p:nvPr>
            <p:ph idx="1"/>
          </p:nvPr>
        </p:nvSpPr>
        <p:spPr>
          <a:xfrm>
            <a:off x="457200" y="1219200"/>
            <a:ext cx="8229600" cy="5334000"/>
          </a:xfrm>
        </p:spPr>
        <p:txBody>
          <a:bodyPr>
            <a:normAutofit fontScale="70000" lnSpcReduction="20000"/>
          </a:bodyPr>
          <a:lstStyle/>
          <a:p>
            <a:pPr marL="0" indent="0" algn="just" eaLnBrk="1" fontAlgn="auto" hangingPunct="1">
              <a:lnSpc>
                <a:spcPct val="120000"/>
              </a:lnSpc>
              <a:spcAft>
                <a:spcPts val="0"/>
              </a:spcAft>
              <a:buClr>
                <a:schemeClr val="accent3"/>
              </a:buClr>
              <a:buFont typeface="Wingdings 2"/>
              <a:buNone/>
              <a:defRPr/>
            </a:pPr>
            <a:r>
              <a:rPr lang="en-US" sz="3400" dirty="0" smtClean="0"/>
              <a:t>Being an entrepreneur requires specific characteristics and skills that are often achieved through education, hard work, and planning.</a:t>
            </a:r>
            <a:endParaRPr lang="en-US" sz="3400" b="1" dirty="0" smtClean="0">
              <a:solidFill>
                <a:schemeClr val="accent2">
                  <a:lumMod val="75000"/>
                </a:schemeClr>
              </a:solidFill>
            </a:endParaRPr>
          </a:p>
          <a:p>
            <a:pPr marL="0" indent="0" algn="just" eaLnBrk="1" fontAlgn="auto" hangingPunct="1">
              <a:lnSpc>
                <a:spcPct val="80000"/>
              </a:lnSpc>
              <a:spcAft>
                <a:spcPts val="0"/>
              </a:spcAft>
              <a:buClr>
                <a:schemeClr val="accent3"/>
              </a:buClr>
              <a:buFont typeface="Wingdings 2"/>
              <a:buNone/>
              <a:defRPr/>
            </a:pPr>
            <a:endParaRPr lang="en-US" sz="3400" b="1" dirty="0" smtClean="0"/>
          </a:p>
          <a:p>
            <a:pPr marL="0" indent="0" algn="just" eaLnBrk="1" fontAlgn="auto" hangingPunct="1">
              <a:lnSpc>
                <a:spcPct val="80000"/>
              </a:lnSpc>
              <a:spcAft>
                <a:spcPts val="0"/>
              </a:spcAft>
              <a:buClr>
                <a:schemeClr val="accent3"/>
              </a:buClr>
              <a:buFont typeface="Wingdings 2"/>
              <a:buNone/>
              <a:defRPr/>
            </a:pPr>
            <a:r>
              <a:rPr lang="en-US" sz="3400" b="1" dirty="0" smtClean="0"/>
              <a:t>Risk Taker </a:t>
            </a:r>
          </a:p>
          <a:p>
            <a:pPr marL="0" indent="0" algn="just" eaLnBrk="1" fontAlgn="auto" hangingPunct="1">
              <a:lnSpc>
                <a:spcPct val="120000"/>
              </a:lnSpc>
              <a:spcAft>
                <a:spcPts val="0"/>
              </a:spcAft>
              <a:buClr>
                <a:schemeClr val="accent3"/>
              </a:buClr>
              <a:buFont typeface="Wingdings 2"/>
              <a:buNone/>
              <a:defRPr/>
            </a:pPr>
            <a:r>
              <a:rPr lang="en-US" sz="3400" dirty="0" smtClean="0"/>
              <a:t>Businesses face risk. Entrepreneurs minimize risk through research, planning, and skill development.</a:t>
            </a:r>
            <a:endParaRPr lang="en-US" sz="3400" b="1" dirty="0" smtClean="0"/>
          </a:p>
          <a:p>
            <a:pPr marL="0" indent="0" algn="just" eaLnBrk="1" fontAlgn="auto" hangingPunct="1">
              <a:lnSpc>
                <a:spcPct val="80000"/>
              </a:lnSpc>
              <a:spcAft>
                <a:spcPts val="0"/>
              </a:spcAft>
              <a:buClr>
                <a:schemeClr val="accent3"/>
              </a:buClr>
              <a:buFont typeface="Wingdings 2"/>
              <a:buNone/>
              <a:defRPr/>
            </a:pPr>
            <a:endParaRPr lang="en-US" sz="3400" b="1" dirty="0" smtClean="0"/>
          </a:p>
          <a:p>
            <a:pPr marL="0" indent="0" algn="just" eaLnBrk="1" fontAlgn="auto" hangingPunct="1">
              <a:lnSpc>
                <a:spcPct val="80000"/>
              </a:lnSpc>
              <a:spcAft>
                <a:spcPts val="0"/>
              </a:spcAft>
              <a:buClr>
                <a:schemeClr val="accent3"/>
              </a:buClr>
              <a:buFont typeface="Wingdings 2"/>
              <a:buNone/>
              <a:defRPr/>
            </a:pPr>
            <a:r>
              <a:rPr lang="en-US" sz="3400" b="1" dirty="0" smtClean="0"/>
              <a:t>Perceptive</a:t>
            </a:r>
            <a:endParaRPr lang="en-US" sz="3400" dirty="0" smtClean="0"/>
          </a:p>
          <a:p>
            <a:pPr marL="0" indent="0" algn="just" eaLnBrk="1" fontAlgn="auto" hangingPunct="1">
              <a:lnSpc>
                <a:spcPct val="120000"/>
              </a:lnSpc>
              <a:spcAft>
                <a:spcPts val="0"/>
              </a:spcAft>
              <a:buClr>
                <a:schemeClr val="accent3"/>
              </a:buClr>
              <a:buFont typeface="Wingdings 2"/>
              <a:buNone/>
              <a:defRPr/>
            </a:pPr>
            <a:r>
              <a:rPr lang="en-US" sz="3400" dirty="0" smtClean="0"/>
              <a:t>Entrepreneurs view problems as opportunities and challenges.</a:t>
            </a:r>
          </a:p>
          <a:p>
            <a:pPr marL="0" indent="0" algn="just" eaLnBrk="1" fontAlgn="auto" hangingPunct="1">
              <a:lnSpc>
                <a:spcPct val="50000"/>
              </a:lnSpc>
              <a:spcAft>
                <a:spcPts val="0"/>
              </a:spcAft>
              <a:buClr>
                <a:schemeClr val="accent3"/>
              </a:buClr>
              <a:buFont typeface="Wingdings 2"/>
              <a:buNone/>
              <a:defRPr/>
            </a:pPr>
            <a:endParaRPr lang="en-US" sz="3400" dirty="0" smtClean="0"/>
          </a:p>
          <a:p>
            <a:pPr marL="0" indent="0" algn="just" eaLnBrk="1" fontAlgn="auto" hangingPunct="1">
              <a:lnSpc>
                <a:spcPct val="80000"/>
              </a:lnSpc>
              <a:spcAft>
                <a:spcPts val="0"/>
              </a:spcAft>
              <a:buClr>
                <a:schemeClr val="accent3"/>
              </a:buClr>
              <a:buFont typeface="Wingdings 2"/>
              <a:buNone/>
              <a:defRPr/>
            </a:pPr>
            <a:r>
              <a:rPr lang="en-US" sz="3400" b="1" dirty="0" smtClean="0"/>
              <a:t>Curious</a:t>
            </a:r>
          </a:p>
          <a:p>
            <a:pPr marL="0" indent="0" algn="just" eaLnBrk="1" fontAlgn="auto" hangingPunct="1">
              <a:lnSpc>
                <a:spcPct val="120000"/>
              </a:lnSpc>
              <a:spcAft>
                <a:spcPts val="0"/>
              </a:spcAft>
              <a:buClr>
                <a:schemeClr val="accent3"/>
              </a:buClr>
              <a:buFont typeface="Wingdings 2"/>
              <a:buNone/>
              <a:defRPr/>
            </a:pPr>
            <a:r>
              <a:rPr lang="en-US" sz="3400" dirty="0" smtClean="0"/>
              <a:t>Entrepreneurs like to know how things work. They take the time and initiative to pursue the unknown.</a:t>
            </a:r>
            <a:endParaRPr lang="en-CA" sz="3400" dirty="0" smtClean="0"/>
          </a:p>
          <a:p>
            <a:pPr marL="274320" indent="-274320" eaLnBrk="1" fontAlgn="auto" hangingPunct="1">
              <a:spcAft>
                <a:spcPts val="0"/>
              </a:spcAft>
              <a:buClr>
                <a:schemeClr val="accent3"/>
              </a:buClr>
              <a:buFont typeface="Wingdings 2"/>
              <a:buChar char=""/>
              <a:defRPr/>
            </a:pP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228600"/>
            <a:ext cx="8229600" cy="742950"/>
          </a:xfrm>
        </p:spPr>
        <p:txBody>
          <a:bodyPr/>
          <a:lstStyle/>
          <a:p>
            <a:pPr eaLnBrk="1" hangingPunct="1"/>
            <a:r>
              <a:rPr lang="en-US" sz="4400" b="1" dirty="0" smtClean="0">
                <a:solidFill>
                  <a:schemeClr val="tx1"/>
                </a:solidFill>
              </a:rPr>
              <a:t>Entrepreneurial Characteristics</a:t>
            </a:r>
            <a:endParaRPr lang="en-US" sz="4400" dirty="0" smtClean="0">
              <a:solidFill>
                <a:schemeClr val="tx1"/>
              </a:solidFill>
            </a:endParaRPr>
          </a:p>
        </p:txBody>
      </p:sp>
      <p:sp>
        <p:nvSpPr>
          <p:cNvPr id="13315" name="Content Placeholder 2"/>
          <p:cNvSpPr>
            <a:spLocks noGrp="1"/>
          </p:cNvSpPr>
          <p:nvPr>
            <p:ph idx="1"/>
          </p:nvPr>
        </p:nvSpPr>
        <p:spPr>
          <a:xfrm>
            <a:off x="457200" y="990600"/>
            <a:ext cx="8229600" cy="5562600"/>
          </a:xfrm>
        </p:spPr>
        <p:txBody>
          <a:bodyPr/>
          <a:lstStyle/>
          <a:p>
            <a:pPr algn="just" eaLnBrk="1" hangingPunct="1">
              <a:buFont typeface="Wingdings 2" pitchFamily="18" charset="2"/>
              <a:buNone/>
            </a:pPr>
            <a:r>
              <a:rPr lang="en-US" sz="2400" b="1" dirty="0" smtClean="0"/>
              <a:t>Imaginative</a:t>
            </a:r>
          </a:p>
          <a:p>
            <a:pPr algn="just" eaLnBrk="1" hangingPunct="1">
              <a:buFont typeface="Wingdings 2" pitchFamily="18" charset="2"/>
              <a:buNone/>
            </a:pPr>
            <a:r>
              <a:rPr lang="en-US" dirty="0" smtClean="0">
                <a:ea typeface="Arial Unicode MS" pitchFamily="34" charset="-128"/>
                <a:cs typeface="Arial Unicode MS" pitchFamily="34" charset="-128"/>
              </a:rPr>
              <a:t>  Entrepreneurs are creative. They imagine solutions to problems that encourage them to create new products and generate ideas.</a:t>
            </a:r>
            <a:endParaRPr lang="en-US" dirty="0" smtClean="0"/>
          </a:p>
          <a:p>
            <a:pPr algn="just" eaLnBrk="1" hangingPunct="1">
              <a:buFont typeface="Wingdings 2" pitchFamily="18" charset="2"/>
              <a:buNone/>
            </a:pPr>
            <a:r>
              <a:rPr lang="en-US" b="1" dirty="0" smtClean="0">
                <a:solidFill>
                  <a:schemeClr val="accent2"/>
                </a:solidFill>
              </a:rPr>
              <a:t>	</a:t>
            </a:r>
            <a:r>
              <a:rPr lang="en-US" b="1" dirty="0" smtClean="0"/>
              <a:t>P</a:t>
            </a:r>
            <a:r>
              <a:rPr lang="en-US" sz="2400" b="1" dirty="0" smtClean="0"/>
              <a:t>ersistent</a:t>
            </a:r>
          </a:p>
          <a:p>
            <a:pPr algn="just" eaLnBrk="1" hangingPunct="1">
              <a:buFont typeface="Wingdings 2" pitchFamily="18" charset="2"/>
              <a:buNone/>
            </a:pPr>
            <a:r>
              <a:rPr lang="en-US" dirty="0" smtClean="0"/>
              <a:t>  True entrepreneurs face bureaucracy, make mistakes, receive criticism, and deal with money, family, or stress problems. But they still stick to their dreams of seeing the venture succeed.</a:t>
            </a:r>
          </a:p>
          <a:p>
            <a:pPr algn="just" eaLnBrk="1" hangingPunct="1">
              <a:buFont typeface="Wingdings 2" pitchFamily="18" charset="2"/>
              <a:buNone/>
            </a:pPr>
            <a:r>
              <a:rPr lang="en-US" b="1" dirty="0" smtClean="0">
                <a:solidFill>
                  <a:schemeClr val="accent2"/>
                </a:solidFill>
              </a:rPr>
              <a:t>	</a:t>
            </a:r>
            <a:r>
              <a:rPr lang="en-US" sz="2400" b="1" dirty="0" smtClean="0"/>
              <a:t>Goal-setting</a:t>
            </a:r>
          </a:p>
          <a:p>
            <a:pPr algn="just" eaLnBrk="1" hangingPunct="1">
              <a:buFont typeface="Wingdings 2" pitchFamily="18" charset="2"/>
              <a:buNone/>
            </a:pPr>
            <a:r>
              <a:rPr lang="en-US" dirty="0" smtClean="0"/>
              <a:t>  Entrepreneurs are motivated by the excitement of staring a new business. Once achieved, they seek out new goals or ventures to try.</a:t>
            </a:r>
            <a:endParaRPr lang="en-US" b="1" dirty="0" smtClean="0">
              <a:solidFill>
                <a:schemeClr val="accent2"/>
              </a:solidFill>
            </a:endParaRPr>
          </a:p>
          <a:p>
            <a:pPr eaLnBrk="1" hangingPunct="1"/>
            <a:endParaRPr lang="en-US" sz="2800" dirty="0" smtClean="0"/>
          </a:p>
          <a:p>
            <a:pPr eaLnBrk="1" hangingPunct="1"/>
            <a:endParaRPr lang="en-US" sz="28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33400" y="228600"/>
            <a:ext cx="8229600" cy="914400"/>
          </a:xfrm>
        </p:spPr>
        <p:txBody>
          <a:bodyPr/>
          <a:lstStyle/>
          <a:p>
            <a:pPr eaLnBrk="1" hangingPunct="1"/>
            <a:r>
              <a:rPr lang="en-US" sz="4400" b="1" dirty="0" smtClean="0">
                <a:solidFill>
                  <a:schemeClr val="tx1"/>
                </a:solidFill>
              </a:rPr>
              <a:t>Entrepreneurial Characteristics</a:t>
            </a:r>
            <a:endParaRPr lang="en-US" sz="4400" dirty="0" smtClean="0">
              <a:solidFill>
                <a:schemeClr val="tx1"/>
              </a:solidFill>
            </a:endParaRPr>
          </a:p>
        </p:txBody>
      </p:sp>
      <p:sp>
        <p:nvSpPr>
          <p:cNvPr id="3" name="Content Placeholder 2"/>
          <p:cNvSpPr>
            <a:spLocks noGrp="1"/>
          </p:cNvSpPr>
          <p:nvPr>
            <p:ph idx="1"/>
          </p:nvPr>
        </p:nvSpPr>
        <p:spPr>
          <a:xfrm>
            <a:off x="533400" y="1143000"/>
            <a:ext cx="8229600" cy="5410200"/>
          </a:xfrm>
        </p:spPr>
        <p:txBody>
          <a:bodyPr>
            <a:normAutofit fontScale="92500"/>
          </a:bodyPr>
          <a:lstStyle/>
          <a:p>
            <a:pPr marL="0" indent="0" eaLnBrk="1" fontAlgn="auto" hangingPunct="1">
              <a:spcAft>
                <a:spcPts val="0"/>
              </a:spcAft>
              <a:buClr>
                <a:schemeClr val="accent3"/>
              </a:buClr>
              <a:buFont typeface="Wingdings 2"/>
              <a:buNone/>
              <a:defRPr/>
            </a:pPr>
            <a:r>
              <a:rPr lang="en-US" b="1" dirty="0" smtClean="0"/>
              <a:t>Self-confident</a:t>
            </a:r>
          </a:p>
          <a:p>
            <a:pPr marL="0" indent="0" algn="just" eaLnBrk="1" fontAlgn="auto" hangingPunct="1">
              <a:spcAft>
                <a:spcPts val="0"/>
              </a:spcAft>
              <a:buClr>
                <a:schemeClr val="accent3"/>
              </a:buClr>
              <a:buFont typeface="Wingdings 2"/>
              <a:buNone/>
              <a:defRPr/>
            </a:pPr>
            <a:r>
              <a:rPr lang="en-US" sz="2400" dirty="0" smtClean="0"/>
              <a:t>Entrepreneurs believe in themselves. Their self-confidence takes care of any doubts they may have.</a:t>
            </a:r>
          </a:p>
          <a:p>
            <a:pPr marL="0" indent="0" algn="just" eaLnBrk="1" fontAlgn="auto" hangingPunct="1">
              <a:spcAft>
                <a:spcPts val="0"/>
              </a:spcAft>
              <a:buClr>
                <a:schemeClr val="accent3"/>
              </a:buClr>
              <a:buFont typeface="Wingdings 2"/>
              <a:buNone/>
              <a:defRPr/>
            </a:pPr>
            <a:r>
              <a:rPr lang="en-US" b="1" dirty="0" smtClean="0"/>
              <a:t>Flexible</a:t>
            </a:r>
          </a:p>
          <a:p>
            <a:pPr marL="0" indent="0" algn="just" eaLnBrk="1" fontAlgn="auto" hangingPunct="1">
              <a:spcAft>
                <a:spcPts val="0"/>
              </a:spcAft>
              <a:buClr>
                <a:schemeClr val="accent3"/>
              </a:buClr>
              <a:buFont typeface="Wingdings 2"/>
              <a:buNone/>
              <a:defRPr/>
            </a:pPr>
            <a:r>
              <a:rPr lang="en-US" sz="2400" dirty="0" smtClean="0"/>
              <a:t>Entrepreneurs must be flexible in order to adapt to changing trends, markets, technologies, rules, and economic environments.</a:t>
            </a:r>
          </a:p>
          <a:p>
            <a:pPr marL="0" indent="0" algn="just" eaLnBrk="1" fontAlgn="auto" hangingPunct="1">
              <a:spcAft>
                <a:spcPts val="0"/>
              </a:spcAft>
              <a:buClr>
                <a:schemeClr val="accent3"/>
              </a:buClr>
              <a:buFont typeface="Wingdings 2"/>
              <a:buNone/>
              <a:defRPr/>
            </a:pPr>
            <a:r>
              <a:rPr lang="en-US" sz="2400" b="1" dirty="0" smtClean="0"/>
              <a:t>Independent</a:t>
            </a:r>
          </a:p>
          <a:p>
            <a:pPr marL="0" indent="0" algn="just" eaLnBrk="1" fontAlgn="auto" hangingPunct="1">
              <a:spcAft>
                <a:spcPts val="0"/>
              </a:spcAft>
              <a:buClr>
                <a:schemeClr val="accent3"/>
              </a:buClr>
              <a:buFont typeface="Wingdings 2"/>
              <a:buNone/>
              <a:defRPr/>
            </a:pPr>
            <a:r>
              <a:rPr lang="en-US" sz="2400" dirty="0" smtClean="0"/>
              <a:t>An entrepreneur’s desire for control and the ability to make decisions often makes it difficult for them to work in a controlled environment.   </a:t>
            </a:r>
            <a:endParaRPr lang="en-CA" sz="2400" dirty="0" smtClean="0"/>
          </a:p>
          <a:p>
            <a:pPr marL="274320" indent="-274320" algn="just" eaLnBrk="1" fontAlgn="auto" hangingPunct="1">
              <a:spcAft>
                <a:spcPts val="0"/>
              </a:spcAft>
              <a:buClr>
                <a:schemeClr val="accent3"/>
              </a:buClr>
              <a:buFont typeface="Wingdings 2"/>
              <a:buNone/>
              <a:defRPr/>
            </a:pPr>
            <a:r>
              <a:rPr lang="en-US" b="1" dirty="0" smtClean="0"/>
              <a:t>Hardworking</a:t>
            </a:r>
          </a:p>
          <a:p>
            <a:pPr marL="274320" indent="-274320" algn="just" eaLnBrk="1" fontAlgn="auto" hangingPunct="1">
              <a:spcAft>
                <a:spcPts val="0"/>
              </a:spcAft>
              <a:buClr>
                <a:schemeClr val="accent3"/>
              </a:buClr>
              <a:buFont typeface="Wingdings 2"/>
              <a:buNone/>
              <a:defRPr/>
            </a:pPr>
            <a:r>
              <a:rPr lang="en-US" sz="2400" dirty="0" smtClean="0"/>
              <a:t>  Entrepreneurs need a great deal of energy to see a venture start and succeed. Yet they are not deterred by the long hours to achieve their goal.</a:t>
            </a:r>
            <a:endParaRPr lang="en-CA" sz="2400" dirty="0" smtClean="0"/>
          </a:p>
          <a:p>
            <a:pPr marL="274320" indent="-274320" eaLnBrk="1" fontAlgn="auto" hangingPunct="1">
              <a:spcAft>
                <a:spcPts val="0"/>
              </a:spcAft>
              <a:buClr>
                <a:schemeClr val="accent3"/>
              </a:buClr>
              <a:buFont typeface="Wingdings 2"/>
              <a:buChar char=""/>
              <a:defRPr/>
            </a:pP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600200"/>
          </a:xfrm>
        </p:spPr>
        <p:txBody>
          <a:bodyPr>
            <a:normAutofit fontScale="90000"/>
          </a:bodyPr>
          <a:lstStyle/>
          <a:p>
            <a:pPr algn="ctr" eaLnBrk="1" fontAlgn="auto" hangingPunct="1">
              <a:spcAft>
                <a:spcPts val="0"/>
              </a:spcAft>
              <a:defRPr/>
            </a:pP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sz="4900" b="1" dirty="0" smtClean="0">
                <a:solidFill>
                  <a:schemeClr val="tx1"/>
                </a:solidFill>
              </a:rPr>
              <a:t>Stages of </a:t>
            </a:r>
            <a:r>
              <a:rPr lang="en-IN" sz="4900" b="1" dirty="0" smtClean="0">
                <a:solidFill>
                  <a:schemeClr val="tx1"/>
                </a:solidFill>
              </a:rPr>
              <a:t>Entrepreneursh</a:t>
            </a:r>
            <a:r>
              <a:rPr lang="en-IN" sz="4900" dirty="0" smtClean="0">
                <a:solidFill>
                  <a:schemeClr val="tx1"/>
                </a:solidFill>
              </a:rPr>
              <a:t>ip</a:t>
            </a:r>
            <a:r>
              <a:rPr lang="en-IN" dirty="0" smtClean="0"/>
              <a:t/>
            </a:r>
            <a:br>
              <a:rPr lang="en-IN" dirty="0" smtClean="0"/>
            </a:br>
            <a:r>
              <a:rPr lang="en-US" dirty="0" smtClean="0"/>
              <a:t> </a:t>
            </a:r>
            <a:endParaRPr lang="en-IN" dirty="0"/>
          </a:p>
        </p:txBody>
      </p:sp>
      <p:sp>
        <p:nvSpPr>
          <p:cNvPr id="3" name="Content Placeholder 2"/>
          <p:cNvSpPr>
            <a:spLocks noGrp="1"/>
          </p:cNvSpPr>
          <p:nvPr>
            <p:ph idx="1"/>
          </p:nvPr>
        </p:nvSpPr>
        <p:spPr>
          <a:xfrm>
            <a:off x="533400" y="1752600"/>
            <a:ext cx="8229600" cy="4876800"/>
          </a:xfrm>
        </p:spPr>
        <p:txBody>
          <a:bodyPr/>
          <a:lstStyle/>
          <a:p>
            <a:pPr eaLnBrk="1" hangingPunct="1">
              <a:buNone/>
            </a:pPr>
            <a:endParaRPr lang="en-IN" sz="2400" b="1" dirty="0" smtClean="0"/>
          </a:p>
          <a:p>
            <a:pPr eaLnBrk="1" hangingPunct="1"/>
            <a:r>
              <a:rPr lang="en-IN" sz="2400" b="1" dirty="0" smtClean="0"/>
              <a:t>Stage One – The Dreamer.</a:t>
            </a:r>
            <a:r>
              <a:rPr lang="en-IN" sz="2400" dirty="0" smtClean="0"/>
              <a:t> </a:t>
            </a:r>
          </a:p>
          <a:p>
            <a:pPr eaLnBrk="1" hangingPunct="1">
              <a:buFont typeface="Wingdings 2" pitchFamily="18" charset="2"/>
              <a:buNone/>
            </a:pPr>
            <a:r>
              <a:rPr lang="en-IN" sz="2400" dirty="0" smtClean="0"/>
              <a:t>     This is where the idea for a business is born. The dream is the culmination of the entrepreneur’s life experiences and passions.</a:t>
            </a:r>
          </a:p>
          <a:p>
            <a:pPr eaLnBrk="1" hangingPunct="1">
              <a:buFont typeface="Wingdings 2" pitchFamily="18" charset="2"/>
              <a:buNone/>
            </a:pPr>
            <a:endParaRPr lang="en-IN" sz="2400" dirty="0" smtClean="0"/>
          </a:p>
          <a:p>
            <a:pPr eaLnBrk="1" hangingPunct="1"/>
            <a:r>
              <a:rPr lang="en-IN" sz="2400" b="1" dirty="0" smtClean="0"/>
              <a:t>Stage Two – The Architect.</a:t>
            </a:r>
            <a:r>
              <a:rPr lang="en-IN" sz="2400" dirty="0" smtClean="0"/>
              <a:t> </a:t>
            </a:r>
          </a:p>
          <a:p>
            <a:pPr eaLnBrk="1" hangingPunct="1">
              <a:buFont typeface="Wingdings 2" pitchFamily="18" charset="2"/>
              <a:buNone/>
            </a:pPr>
            <a:r>
              <a:rPr lang="en-IN" sz="2400" dirty="0" smtClean="0"/>
              <a:t>    This stage is where the dream is interpreted into a business model which becomes the blueprint of the venture. The Dreamer typically does not make a good Architect.</a:t>
            </a:r>
          </a:p>
          <a:p>
            <a:pPr eaLnBrk="1" hangingPunct="1"/>
            <a:endParaRPr lang="en-IN"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heckerboard(across)">
                                      <p:cBhvr>
                                        <p:cTn id="7" dur="500"/>
                                        <p:tgtEl>
                                          <p:spTgt spid="3">
                                            <p:txEl>
                                              <p:pRg st="1" end="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checkerboard(across)">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checkerboard(across)">
                                      <p:cBhvr>
                                        <p:cTn id="15" dur="500"/>
                                        <p:tgtEl>
                                          <p:spTgt spid="3">
                                            <p:txEl>
                                              <p:pRg st="4" end="4"/>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checkerboard(across)">
                                      <p:cBhvr>
                                        <p:cTn id="1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ChangeArrowheads="1"/>
          </p:cNvSpPr>
          <p:nvPr/>
        </p:nvSpPr>
        <p:spPr bwMode="auto">
          <a:xfrm>
            <a:off x="609600" y="838200"/>
            <a:ext cx="8077200" cy="4524375"/>
          </a:xfrm>
          <a:prstGeom prst="rect">
            <a:avLst/>
          </a:prstGeom>
          <a:noFill/>
          <a:ln w="9525">
            <a:noFill/>
            <a:miter lim="800000"/>
            <a:headEnd/>
            <a:tailEnd/>
          </a:ln>
        </p:spPr>
        <p:txBody>
          <a:bodyPr>
            <a:spAutoFit/>
          </a:bodyPr>
          <a:lstStyle/>
          <a:p>
            <a:pPr>
              <a:lnSpc>
                <a:spcPct val="150000"/>
              </a:lnSpc>
            </a:pPr>
            <a:r>
              <a:rPr lang="en-IN" sz="2400" b="1" dirty="0">
                <a:latin typeface="Constantia" pitchFamily="18" charset="0"/>
              </a:rPr>
              <a:t>Stage Three – The Builder.</a:t>
            </a:r>
            <a:r>
              <a:rPr lang="en-IN" sz="2400" dirty="0">
                <a:latin typeface="Constantia" pitchFamily="18" charset="0"/>
              </a:rPr>
              <a:t> </a:t>
            </a:r>
          </a:p>
          <a:p>
            <a:pPr>
              <a:lnSpc>
                <a:spcPct val="150000"/>
              </a:lnSpc>
            </a:pPr>
            <a:r>
              <a:rPr lang="en-IN" sz="2400" dirty="0">
                <a:latin typeface="Constantia" pitchFamily="18" charset="0"/>
              </a:rPr>
              <a:t>    This is the stage where the dream can first become reality. The Builder then literally turns the dream into reality. We are now at a critical juncture of the venture.</a:t>
            </a:r>
          </a:p>
          <a:p>
            <a:pPr>
              <a:lnSpc>
                <a:spcPct val="150000"/>
              </a:lnSpc>
            </a:pPr>
            <a:r>
              <a:rPr lang="en-IN" sz="2400" b="1" dirty="0">
                <a:latin typeface="Constantia" pitchFamily="18" charset="0"/>
              </a:rPr>
              <a:t>Stage Four – The Cultivator. </a:t>
            </a:r>
          </a:p>
          <a:p>
            <a:pPr>
              <a:lnSpc>
                <a:spcPct val="150000"/>
              </a:lnSpc>
            </a:pPr>
            <a:r>
              <a:rPr lang="en-IN" sz="2400" b="1" dirty="0">
                <a:latin typeface="Constantia" pitchFamily="18" charset="0"/>
              </a:rPr>
              <a:t>     </a:t>
            </a:r>
            <a:r>
              <a:rPr lang="en-IN" sz="2400" dirty="0">
                <a:latin typeface="Constantia" pitchFamily="18" charset="0"/>
              </a:rPr>
              <a:t>This is the growth stage. Once the business is launched the Cultivator’s primary role is to guide the business through the various levels of growth.</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8229600" cy="762000"/>
          </a:xfrm>
        </p:spPr>
        <p:txBody>
          <a:bodyPr>
            <a:normAutofit fontScale="90000"/>
          </a:bodyPr>
          <a:lstStyle/>
          <a:p>
            <a:pPr algn="ctr" eaLnBrk="1" fontAlgn="auto" hangingPunct="1">
              <a:spcAft>
                <a:spcPts val="0"/>
              </a:spcAft>
              <a:defRPr/>
            </a:pPr>
            <a:r>
              <a:rPr lang="en-US" b="1" dirty="0" smtClean="0">
                <a:solidFill>
                  <a:schemeClr val="tx1"/>
                </a:solidFill>
              </a:rPr>
              <a:t>Classification of Entrepreneur</a:t>
            </a:r>
            <a:endParaRPr lang="en-IN" b="1" dirty="0">
              <a:solidFill>
                <a:schemeClr val="tx1"/>
              </a:solidFill>
            </a:endParaRPr>
          </a:p>
        </p:txBody>
      </p:sp>
      <p:sp>
        <p:nvSpPr>
          <p:cNvPr id="3" name="Content Placeholder 2"/>
          <p:cNvSpPr>
            <a:spLocks noGrp="1"/>
          </p:cNvSpPr>
          <p:nvPr>
            <p:ph idx="1"/>
          </p:nvPr>
        </p:nvSpPr>
        <p:spPr>
          <a:xfrm>
            <a:off x="381000" y="990600"/>
            <a:ext cx="8534400" cy="5638800"/>
          </a:xfrm>
        </p:spPr>
        <p:txBody>
          <a:bodyPr>
            <a:normAutofit fontScale="92500" lnSpcReduction="20000"/>
          </a:bodyPr>
          <a:lstStyle/>
          <a:p>
            <a:pPr marL="274320" indent="-274320" eaLnBrk="1" fontAlgn="auto" hangingPunct="1">
              <a:spcAft>
                <a:spcPts val="0"/>
              </a:spcAft>
              <a:buClr>
                <a:schemeClr val="accent3"/>
              </a:buClr>
              <a:buFont typeface="Wingdings 2"/>
              <a:buNone/>
              <a:defRPr/>
            </a:pPr>
            <a:r>
              <a:rPr lang="en-IN" b="1" dirty="0" smtClean="0"/>
              <a:t>Innovative entrepreneur : </a:t>
            </a:r>
            <a:r>
              <a:rPr lang="en-IN" dirty="0" smtClean="0"/>
              <a:t>-</a:t>
            </a:r>
          </a:p>
          <a:p>
            <a:pPr marL="274320" indent="-274320" eaLnBrk="1" fontAlgn="auto" hangingPunct="1">
              <a:lnSpc>
                <a:spcPct val="120000"/>
              </a:lnSpc>
              <a:spcAft>
                <a:spcPts val="0"/>
              </a:spcAft>
              <a:buClr>
                <a:schemeClr val="accent3"/>
              </a:buClr>
              <a:buFont typeface="Wingdings 2"/>
              <a:buNone/>
              <a:defRPr/>
            </a:pPr>
            <a:r>
              <a:rPr lang="en-IN" sz="3400" dirty="0" smtClean="0"/>
              <a:t>   </a:t>
            </a:r>
            <a:r>
              <a:rPr lang="en-IN" sz="2800" dirty="0" smtClean="0"/>
              <a:t>Such entrepreneurs introduce new goods or new methods of production or discover new markets or reorganize the enterprise. </a:t>
            </a:r>
            <a:r>
              <a:rPr lang="en-US" sz="2800" dirty="0" smtClean="0"/>
              <a:t>Examples of first movers include innovative companies such as eBay and Coca-Cola. eBay was the first company to take the auction process online, kicking off operations in 1995</a:t>
            </a:r>
            <a:r>
              <a:rPr lang="en-US" sz="3100" dirty="0" smtClean="0"/>
              <a:t>.</a:t>
            </a:r>
            <a:endParaRPr lang="en-IN" sz="3100" b="1" dirty="0" smtClean="0"/>
          </a:p>
          <a:p>
            <a:pPr marL="274320" indent="-274320" eaLnBrk="1" fontAlgn="auto" hangingPunct="1">
              <a:spcAft>
                <a:spcPts val="0"/>
              </a:spcAft>
              <a:buClr>
                <a:schemeClr val="accent3"/>
              </a:buClr>
              <a:buFont typeface="Wingdings 2"/>
              <a:buNone/>
              <a:defRPr/>
            </a:pPr>
            <a:r>
              <a:rPr lang="en-IN" sz="2800" b="1" dirty="0" smtClean="0"/>
              <a:t>Imitativ</a:t>
            </a:r>
            <a:r>
              <a:rPr lang="en-IN" b="1" dirty="0" smtClean="0"/>
              <a:t>e or adoptive entrepreneur :-</a:t>
            </a:r>
          </a:p>
          <a:p>
            <a:pPr marL="274320" indent="-274320" eaLnBrk="1" fontAlgn="auto" hangingPunct="1">
              <a:lnSpc>
                <a:spcPct val="120000"/>
              </a:lnSpc>
              <a:spcAft>
                <a:spcPts val="0"/>
              </a:spcAft>
              <a:buClr>
                <a:schemeClr val="accent3"/>
              </a:buClr>
              <a:buFont typeface="Wingdings 2"/>
              <a:buNone/>
              <a:defRPr/>
            </a:pPr>
            <a:r>
              <a:rPr lang="en-IN" dirty="0" smtClean="0"/>
              <a:t>    Such entrepreneurs don’t innovate, they copy technology or technique of others.</a:t>
            </a:r>
            <a:r>
              <a:rPr lang="en-US" dirty="0" smtClean="0"/>
              <a:t>. Such entrepreneurs are significant for under-developed economies because they put such economies on high rate of economic development</a:t>
            </a:r>
            <a:r>
              <a:rPr lang="en-IN" dirty="0" smtClean="0"/>
              <a:t>`EX: Chinese mobiles.</a:t>
            </a:r>
          </a:p>
          <a:p>
            <a:pPr marL="274320" indent="-274320" eaLnBrk="1" fontAlgn="auto" hangingPunct="1">
              <a:spcAft>
                <a:spcPts val="0"/>
              </a:spcAft>
              <a:buClr>
                <a:schemeClr val="accent3"/>
              </a:buClr>
              <a:buFont typeface="Wingdings 2"/>
              <a:buNone/>
              <a:defRPr/>
            </a:pPr>
            <a:endParaRPr lang="en-IN" sz="3100" dirty="0" smtClean="0"/>
          </a:p>
          <a:p>
            <a:pPr marL="274320" indent="-274320" eaLnBrk="1" fontAlgn="auto" hangingPunct="1">
              <a:spcAft>
                <a:spcPts val="0"/>
              </a:spcAft>
              <a:buClr>
                <a:schemeClr val="accent3"/>
              </a:buClr>
              <a:buFont typeface="Wingdings 2"/>
              <a:buNone/>
              <a:defRPr/>
            </a:pPr>
            <a:endParaRPr lang="en-IN"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500"/>
                                        <p:tgtEl>
                                          <p:spTgt spid="3">
                                            <p:txEl>
                                              <p:pRg st="0" end="0"/>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amond(in)">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amond(in)">
                                      <p:cBhvr>
                                        <p:cTn id="15" dur="500"/>
                                        <p:tgtEl>
                                          <p:spTgt spid="3">
                                            <p:txEl>
                                              <p:pRg st="2" end="2"/>
                                            </p:txEl>
                                          </p:spTgt>
                                        </p:tgtEl>
                                      </p:cBhvr>
                                    </p:animEffect>
                                  </p:childTnLst>
                                </p:cTn>
                              </p:par>
                              <p:par>
                                <p:cTn id="16" presetID="8" presetClass="entr" presetSubtype="16"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amond(in)">
                                      <p:cBhvr>
                                        <p:cTn id="18"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0"/>
            <a:ext cx="8610600" cy="6002338"/>
          </a:xfrm>
          <a:prstGeom prst="rect">
            <a:avLst/>
          </a:prstGeom>
        </p:spPr>
        <p:txBody>
          <a:bodyPr>
            <a:spAutoFit/>
          </a:bodyPr>
          <a:lstStyle/>
          <a:p>
            <a:pPr fontAlgn="auto">
              <a:spcBef>
                <a:spcPts val="0"/>
              </a:spcBef>
              <a:spcAft>
                <a:spcPts val="0"/>
              </a:spcAft>
              <a:defRPr/>
            </a:pPr>
            <a:r>
              <a:rPr lang="en-IN" sz="2400" b="1" dirty="0">
                <a:latin typeface="+mn-lt"/>
                <a:cs typeface="+mn-cs"/>
              </a:rPr>
              <a:t>Prime mover :-</a:t>
            </a:r>
          </a:p>
          <a:p>
            <a:pPr fontAlgn="auto">
              <a:spcBef>
                <a:spcPts val="0"/>
              </a:spcBef>
              <a:spcAft>
                <a:spcPts val="0"/>
              </a:spcAft>
              <a:defRPr/>
            </a:pPr>
            <a:r>
              <a:rPr lang="en-IN" sz="2400" dirty="0">
                <a:latin typeface="+mn-lt"/>
                <a:cs typeface="+mn-cs"/>
              </a:rPr>
              <a:t> </a:t>
            </a:r>
            <a:r>
              <a:rPr lang="en-IN" sz="2400" dirty="0" smtClean="0">
                <a:latin typeface="+mn-lt"/>
                <a:cs typeface="+mn-cs"/>
              </a:rPr>
              <a:t>This </a:t>
            </a:r>
            <a:r>
              <a:rPr lang="en-IN" sz="2400" dirty="0">
                <a:latin typeface="+mn-lt"/>
                <a:cs typeface="+mn-cs"/>
              </a:rPr>
              <a:t>entrepreneur sets in motion a powerful sequence of </a:t>
            </a:r>
            <a:r>
              <a:rPr lang="en-IN" sz="2400" dirty="0" smtClean="0">
                <a:latin typeface="+mn-lt"/>
                <a:cs typeface="+mn-cs"/>
              </a:rPr>
              <a:t>     development </a:t>
            </a:r>
            <a:r>
              <a:rPr lang="en-IN" sz="2400" dirty="0">
                <a:latin typeface="+mn-lt"/>
                <a:cs typeface="+mn-cs"/>
              </a:rPr>
              <a:t>expansion and diversification of business</a:t>
            </a:r>
            <a:r>
              <a:rPr lang="en-IN" sz="2400" dirty="0" smtClean="0">
                <a:latin typeface="+mn-lt"/>
                <a:cs typeface="+mn-cs"/>
              </a:rPr>
              <a:t>.            EX</a:t>
            </a:r>
            <a:r>
              <a:rPr lang="en-IN" sz="2400" dirty="0">
                <a:latin typeface="+mn-lt"/>
                <a:cs typeface="+mn-cs"/>
              </a:rPr>
              <a:t>: </a:t>
            </a:r>
            <a:r>
              <a:rPr lang="en-IN" sz="2400" dirty="0" err="1">
                <a:latin typeface="+mn-lt"/>
                <a:cs typeface="+mn-cs"/>
              </a:rPr>
              <a:t>Ambani</a:t>
            </a:r>
            <a:endParaRPr lang="en-IN" sz="2400" dirty="0">
              <a:latin typeface="+mn-lt"/>
              <a:cs typeface="+mn-cs"/>
            </a:endParaRPr>
          </a:p>
          <a:p>
            <a:pPr fontAlgn="auto">
              <a:spcBef>
                <a:spcPts val="0"/>
              </a:spcBef>
              <a:spcAft>
                <a:spcPts val="0"/>
              </a:spcAft>
              <a:defRPr/>
            </a:pPr>
            <a:r>
              <a:rPr lang="en-IN" sz="2400" b="1" dirty="0">
                <a:latin typeface="+mn-lt"/>
                <a:cs typeface="+mn-cs"/>
              </a:rPr>
              <a:t>Manager :-</a:t>
            </a:r>
          </a:p>
          <a:p>
            <a:pPr fontAlgn="auto">
              <a:spcBef>
                <a:spcPts val="0"/>
              </a:spcBef>
              <a:spcAft>
                <a:spcPts val="0"/>
              </a:spcAft>
              <a:defRPr/>
            </a:pPr>
            <a:r>
              <a:rPr lang="en-IN" sz="2400" dirty="0">
                <a:latin typeface="+mn-lt"/>
                <a:cs typeface="+mn-cs"/>
              </a:rPr>
              <a:t> </a:t>
            </a:r>
            <a:r>
              <a:rPr lang="en-IN" sz="2400" dirty="0" smtClean="0">
                <a:latin typeface="+mn-lt"/>
                <a:cs typeface="+mn-cs"/>
              </a:rPr>
              <a:t>Such </a:t>
            </a:r>
            <a:r>
              <a:rPr lang="en-IN" sz="2400" dirty="0">
                <a:latin typeface="+mn-lt"/>
                <a:cs typeface="+mn-cs"/>
              </a:rPr>
              <a:t>an entrepreneur doesn’t initiate expansion and its content in just staying in business.</a:t>
            </a:r>
          </a:p>
          <a:p>
            <a:pPr fontAlgn="auto">
              <a:spcBef>
                <a:spcPts val="0"/>
              </a:spcBef>
              <a:spcAft>
                <a:spcPts val="0"/>
              </a:spcAft>
              <a:defRPr/>
            </a:pPr>
            <a:r>
              <a:rPr lang="en-IN" sz="2400" b="1" dirty="0">
                <a:latin typeface="+mn-lt"/>
                <a:cs typeface="+mn-cs"/>
              </a:rPr>
              <a:t>The artists:-</a:t>
            </a:r>
          </a:p>
          <a:p>
            <a:pPr fontAlgn="auto">
              <a:spcBef>
                <a:spcPts val="0"/>
              </a:spcBef>
              <a:spcAft>
                <a:spcPts val="0"/>
              </a:spcAft>
              <a:defRPr/>
            </a:pPr>
            <a:r>
              <a:rPr lang="en-IN" sz="2400" dirty="0">
                <a:latin typeface="+mn-lt"/>
                <a:cs typeface="+mn-cs"/>
              </a:rPr>
              <a:t>Are highly creative type, very conscious about business. </a:t>
            </a:r>
          </a:p>
          <a:p>
            <a:pPr fontAlgn="auto">
              <a:spcBef>
                <a:spcPts val="0"/>
              </a:spcBef>
              <a:spcAft>
                <a:spcPts val="0"/>
              </a:spcAft>
              <a:defRPr/>
            </a:pPr>
            <a:r>
              <a:rPr lang="en-IN" sz="2400" dirty="0">
                <a:solidFill>
                  <a:schemeClr val="tx2">
                    <a:lumMod val="50000"/>
                  </a:schemeClr>
                </a:solidFill>
                <a:latin typeface="+mn-lt"/>
                <a:cs typeface="+mn-cs"/>
              </a:rPr>
              <a:t>EX: </a:t>
            </a:r>
            <a:r>
              <a:rPr lang="en-IN" sz="2400" dirty="0" err="1">
                <a:latin typeface="+mn-lt"/>
                <a:cs typeface="+mn-cs"/>
              </a:rPr>
              <a:t>Aamir</a:t>
            </a:r>
            <a:r>
              <a:rPr lang="en-IN" sz="2400" dirty="0">
                <a:latin typeface="+mn-lt"/>
                <a:cs typeface="+mn-cs"/>
              </a:rPr>
              <a:t> Khan, Michael Dell (Dell), Deep </a:t>
            </a:r>
            <a:r>
              <a:rPr lang="en-IN" sz="2400" dirty="0" err="1">
                <a:latin typeface="+mn-lt"/>
                <a:cs typeface="+mn-cs"/>
              </a:rPr>
              <a:t>Kalra</a:t>
            </a:r>
            <a:r>
              <a:rPr lang="en-IN" sz="2400" dirty="0">
                <a:latin typeface="+mn-lt"/>
                <a:cs typeface="+mn-cs"/>
              </a:rPr>
              <a:t> (Make my trip)</a:t>
            </a:r>
          </a:p>
          <a:p>
            <a:pPr fontAlgn="auto">
              <a:spcBef>
                <a:spcPts val="0"/>
              </a:spcBef>
              <a:spcAft>
                <a:spcPts val="0"/>
              </a:spcAft>
              <a:defRPr/>
            </a:pPr>
            <a:r>
              <a:rPr lang="en-IN" sz="2400" b="1" dirty="0">
                <a:latin typeface="+mn-lt"/>
                <a:cs typeface="+mn-cs"/>
              </a:rPr>
              <a:t>The visionary:- </a:t>
            </a:r>
          </a:p>
          <a:p>
            <a:pPr fontAlgn="auto">
              <a:spcBef>
                <a:spcPts val="0"/>
              </a:spcBef>
              <a:spcAft>
                <a:spcPts val="0"/>
              </a:spcAft>
              <a:defRPr/>
            </a:pPr>
            <a:r>
              <a:rPr lang="en-IN" sz="2400" dirty="0">
                <a:latin typeface="+mn-lt"/>
                <a:cs typeface="+mn-cs"/>
              </a:rPr>
              <a:t>Too focused on dreams with little focused on reality.</a:t>
            </a:r>
          </a:p>
          <a:p>
            <a:pPr fontAlgn="auto">
              <a:spcBef>
                <a:spcPts val="0"/>
              </a:spcBef>
              <a:spcAft>
                <a:spcPts val="0"/>
              </a:spcAft>
              <a:defRPr/>
            </a:pPr>
            <a:r>
              <a:rPr lang="en-IN" sz="2400" dirty="0">
                <a:latin typeface="+mn-lt"/>
                <a:cs typeface="+mn-cs"/>
              </a:rPr>
              <a:t>EX: Jack Welch(GE), Bill Gates (Microsoft), </a:t>
            </a:r>
            <a:r>
              <a:rPr lang="en-IN" sz="2400" dirty="0" err="1">
                <a:latin typeface="+mn-lt"/>
                <a:cs typeface="+mn-cs"/>
              </a:rPr>
              <a:t>Kishore</a:t>
            </a:r>
            <a:r>
              <a:rPr lang="en-IN" sz="2400" dirty="0">
                <a:latin typeface="+mn-lt"/>
                <a:cs typeface="+mn-cs"/>
              </a:rPr>
              <a:t> </a:t>
            </a:r>
            <a:r>
              <a:rPr lang="en-IN" sz="2400" dirty="0" err="1">
                <a:latin typeface="+mn-lt"/>
                <a:cs typeface="+mn-cs"/>
              </a:rPr>
              <a:t>Biyani</a:t>
            </a:r>
            <a:r>
              <a:rPr lang="en-IN" sz="2400" dirty="0">
                <a:latin typeface="+mn-lt"/>
                <a:cs typeface="+mn-cs"/>
              </a:rPr>
              <a:t>(Future Group), Warren Buffet (Berkshire Hathaway), Sam Walton(Wall Mart).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dministrator\Desktop\001.jpg"/>
          <p:cNvPicPr>
            <a:picLocks noChangeAspect="1" noChangeArrowheads="1"/>
          </p:cNvPicPr>
          <p:nvPr/>
        </p:nvPicPr>
        <p:blipFill>
          <a:blip r:embed="rId2"/>
          <a:srcRect/>
          <a:stretch>
            <a:fillRect/>
          </a:stretch>
        </p:blipFill>
        <p:spPr bwMode="auto">
          <a:xfrm>
            <a:off x="381000" y="609600"/>
            <a:ext cx="8556311" cy="5822007"/>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14400"/>
            <a:ext cx="8534400" cy="5540375"/>
          </a:xfrm>
          <a:prstGeom prst="rect">
            <a:avLst/>
          </a:prstGeom>
        </p:spPr>
        <p:txBody>
          <a:bodyPr>
            <a:spAutoFit/>
          </a:bodyPr>
          <a:lstStyle/>
          <a:p>
            <a:pPr fontAlgn="auto">
              <a:spcBef>
                <a:spcPts val="0"/>
              </a:spcBef>
              <a:spcAft>
                <a:spcPts val="0"/>
              </a:spcAft>
              <a:defRPr/>
            </a:pPr>
            <a:r>
              <a:rPr lang="en-US" sz="2400" b="1" dirty="0">
                <a:latin typeface="+mn-lt"/>
                <a:cs typeface="+mn-cs"/>
              </a:rPr>
              <a:t>Problems of </a:t>
            </a:r>
            <a:r>
              <a:rPr lang="en-US" sz="2400" b="1" dirty="0" smtClean="0">
                <a:latin typeface="+mn-lt"/>
                <a:cs typeface="+mn-cs"/>
              </a:rPr>
              <a:t>Entrepreneurship Development </a:t>
            </a:r>
            <a:r>
              <a:rPr lang="en-US" sz="2400" b="1" dirty="0" err="1" smtClean="0">
                <a:latin typeface="+mn-lt"/>
                <a:cs typeface="+mn-cs"/>
              </a:rPr>
              <a:t>Programmes</a:t>
            </a:r>
            <a:r>
              <a:rPr lang="en-US" sz="2400" b="1" dirty="0" smtClean="0">
                <a:latin typeface="+mn-lt"/>
                <a:cs typeface="+mn-cs"/>
              </a:rPr>
              <a:t> </a:t>
            </a:r>
            <a:r>
              <a:rPr lang="en-US" sz="2400" b="1" dirty="0">
                <a:latin typeface="+mn-lt"/>
                <a:cs typeface="+mn-cs"/>
              </a:rPr>
              <a:t>(EDPs) are</a:t>
            </a:r>
            <a:r>
              <a:rPr lang="en-US" sz="2400" dirty="0">
                <a:latin typeface="+mn-lt"/>
                <a:cs typeface="+mn-cs"/>
              </a:rPr>
              <a:t>:</a:t>
            </a:r>
          </a:p>
          <a:p>
            <a:pPr marL="342900" indent="-342900" fontAlgn="auto">
              <a:spcBef>
                <a:spcPts val="0"/>
              </a:spcBef>
              <a:spcAft>
                <a:spcPts val="0"/>
              </a:spcAft>
              <a:buFontTx/>
              <a:buAutoNum type="arabicPeriod"/>
              <a:defRPr/>
            </a:pPr>
            <a:r>
              <a:rPr lang="en-US" sz="2400" b="1" dirty="0">
                <a:latin typeface="+mn-lt"/>
                <a:cs typeface="+mn-cs"/>
              </a:rPr>
              <a:t>No Policy at the National Level. </a:t>
            </a:r>
            <a:r>
              <a:rPr lang="en-US" sz="2400" dirty="0">
                <a:latin typeface="+mn-lt"/>
                <a:cs typeface="+mn-cs"/>
              </a:rPr>
              <a:t>Though Government of India is fully aware about the importance of entrepreneurial development, yet we do not have a national policy on entrepreneurship. It is expected that the government will formulate and enforce a policy aimed at promoting balanced regional development of various areas through promotion of entrepreneurship.</a:t>
            </a:r>
          </a:p>
          <a:p>
            <a:pPr marL="342900" indent="-342900" fontAlgn="auto">
              <a:spcBef>
                <a:spcPts val="0"/>
              </a:spcBef>
              <a:spcAft>
                <a:spcPts val="0"/>
              </a:spcAft>
              <a:buFontTx/>
              <a:buAutoNum type="arabicPeriod"/>
              <a:defRPr/>
            </a:pPr>
            <a:endParaRPr lang="en-US" sz="2400" dirty="0">
              <a:latin typeface="+mn-lt"/>
              <a:cs typeface="+mn-cs"/>
            </a:endParaRPr>
          </a:p>
          <a:p>
            <a:pPr fontAlgn="auto">
              <a:spcBef>
                <a:spcPts val="0"/>
              </a:spcBef>
              <a:spcAft>
                <a:spcPts val="0"/>
              </a:spcAft>
              <a:defRPr/>
            </a:pPr>
            <a:r>
              <a:rPr lang="en-US" sz="2400" b="1" dirty="0">
                <a:latin typeface="+mn-lt"/>
                <a:cs typeface="+mn-cs"/>
              </a:rPr>
              <a:t>2. Problems at the Pre training Phase. </a:t>
            </a:r>
            <a:r>
              <a:rPr lang="en-US" sz="2400" dirty="0">
                <a:latin typeface="+mn-lt"/>
                <a:cs typeface="+mn-cs"/>
              </a:rPr>
              <a:t>Various problems faced in this phase are — identification of business opportunities, finding </a:t>
            </a:r>
            <a:r>
              <a:rPr lang="en-US" sz="2400" i="1" dirty="0">
                <a:latin typeface="+mn-lt"/>
                <a:cs typeface="+mn-cs"/>
              </a:rPr>
              <a:t>&amp; </a:t>
            </a:r>
            <a:r>
              <a:rPr lang="en-US" sz="2400" dirty="0">
                <a:latin typeface="+mn-lt"/>
                <a:cs typeface="+mn-cs"/>
              </a:rPr>
              <a:t>locating target group, selection of trainee &amp; trainers etc.</a:t>
            </a:r>
          </a:p>
          <a:p>
            <a:pPr fontAlgn="auto">
              <a:spcBef>
                <a:spcPts val="0"/>
              </a:spcBef>
              <a:spcAft>
                <a:spcPts val="0"/>
              </a:spcAft>
              <a:defRPr/>
            </a:pPr>
            <a:endParaRPr lang="en-US" dirty="0">
              <a:latin typeface="+mn-lt"/>
              <a:cs typeface="+mn-cs"/>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04800"/>
            <a:ext cx="8305800" cy="9848850"/>
          </a:xfrm>
          <a:prstGeom prst="rect">
            <a:avLst/>
          </a:prstGeom>
        </p:spPr>
        <p:txBody>
          <a:bodyPr>
            <a:spAutoFit/>
          </a:bodyPr>
          <a:lstStyle/>
          <a:p>
            <a:pPr fontAlgn="auto">
              <a:spcBef>
                <a:spcPts val="0"/>
              </a:spcBef>
              <a:spcAft>
                <a:spcPts val="0"/>
              </a:spcAft>
              <a:defRPr/>
            </a:pPr>
            <a:endParaRPr lang="en-US" sz="2200" b="1" dirty="0">
              <a:latin typeface="+mn-lt"/>
              <a:cs typeface="+mn-cs"/>
            </a:endParaRPr>
          </a:p>
          <a:p>
            <a:pPr fontAlgn="auto">
              <a:spcBef>
                <a:spcPts val="0"/>
              </a:spcBef>
              <a:spcAft>
                <a:spcPts val="0"/>
              </a:spcAft>
              <a:defRPr/>
            </a:pPr>
            <a:r>
              <a:rPr lang="en-US" sz="2200" b="1" dirty="0">
                <a:latin typeface="+mn-lt"/>
                <a:cs typeface="+mn-cs"/>
              </a:rPr>
              <a:t>3. Over Estimation of Trainees. </a:t>
            </a:r>
            <a:r>
              <a:rPr lang="en-US" sz="2200" dirty="0">
                <a:latin typeface="+mn-lt"/>
                <a:cs typeface="+mn-cs"/>
              </a:rPr>
              <a:t>Under EDPs it is assumed that the trainees have aptitude for self employment and training will motivate and enable the trainees in the successful setting up and managing of their enterprises. These agencies thus overestimate the aptitude and capabilities of the educated youth. Thus on one hand the EDPs do not impart sufficient training and on the other financial institutions are not prepared to finance these risky enterprises set up by the not so competent entrepreneurs.					         </a:t>
            </a:r>
            <a:endParaRPr lang="en-US" sz="2200" b="1" dirty="0">
              <a:latin typeface="+mn-lt"/>
              <a:cs typeface="+mn-cs"/>
            </a:endParaRPr>
          </a:p>
          <a:p>
            <a:pPr fontAlgn="auto">
              <a:spcBef>
                <a:spcPts val="0"/>
              </a:spcBef>
              <a:spcAft>
                <a:spcPts val="0"/>
              </a:spcAft>
              <a:defRPr/>
            </a:pPr>
            <a:r>
              <a:rPr lang="en-US" sz="2200" b="1" dirty="0">
                <a:latin typeface="+mn-lt"/>
                <a:cs typeface="+mn-cs"/>
              </a:rPr>
              <a:t>4. Duration of EDPs. </a:t>
            </a:r>
            <a:r>
              <a:rPr lang="en-US" sz="2200" dirty="0">
                <a:latin typeface="+mn-lt"/>
                <a:cs typeface="+mn-cs"/>
              </a:rPr>
              <a:t>An attempt is made during the conduct of EDPs to prepare prospective entrepreneurs thoroughly for the various problems they will be encountering during the setting up and running of their enterprises. Duration of most of these EDPs varies between 4 to 6 weeks, which is too short a period to instill basic managerial skills in the entrepreneurs. Thus the very objective to develop and strengthen entrepreneurial qualities and motivation is defeated.</a:t>
            </a:r>
          </a:p>
          <a:p>
            <a:pPr fontAlgn="auto">
              <a:spcBef>
                <a:spcPts val="0"/>
              </a:spcBef>
              <a:spcAft>
                <a:spcPts val="0"/>
              </a:spcAft>
              <a:defRPr/>
            </a:pPr>
            <a:endParaRPr lang="en-US" sz="2200" dirty="0">
              <a:latin typeface="+mn-lt"/>
              <a:cs typeface="+mn-cs"/>
            </a:endParaRPr>
          </a:p>
          <a:p>
            <a:pPr marL="342900" indent="-342900" fontAlgn="auto">
              <a:spcBef>
                <a:spcPts val="0"/>
              </a:spcBef>
              <a:spcAft>
                <a:spcPts val="0"/>
              </a:spcAft>
              <a:defRPr/>
            </a:pPr>
            <a:endParaRPr lang="en-US" dirty="0">
              <a:latin typeface="+mn-lt"/>
              <a:cs typeface="+mn-cs"/>
            </a:endParaRPr>
          </a:p>
          <a:p>
            <a:pPr marL="342900" indent="-342900" fontAlgn="auto">
              <a:spcBef>
                <a:spcPts val="0"/>
              </a:spcBef>
              <a:spcAft>
                <a:spcPts val="0"/>
              </a:spcAft>
              <a:defRPr/>
            </a:pPr>
            <a:endParaRPr lang="en-US" dirty="0">
              <a:latin typeface="+mn-lt"/>
              <a:cs typeface="+mn-cs"/>
            </a:endParaRPr>
          </a:p>
          <a:p>
            <a:pPr marL="342900" indent="-342900" fontAlgn="auto">
              <a:spcBef>
                <a:spcPts val="0"/>
              </a:spcBef>
              <a:spcAft>
                <a:spcPts val="0"/>
              </a:spcAft>
              <a:defRPr/>
            </a:pPr>
            <a:endParaRPr lang="en-US" dirty="0">
              <a:latin typeface="+mn-lt"/>
              <a:cs typeface="+mn-cs"/>
            </a:endParaRPr>
          </a:p>
          <a:p>
            <a:pPr marL="342900" indent="-342900" fontAlgn="auto">
              <a:spcBef>
                <a:spcPts val="0"/>
              </a:spcBef>
              <a:spcAft>
                <a:spcPts val="0"/>
              </a:spcAft>
              <a:defRPr/>
            </a:pPr>
            <a:endParaRPr lang="en-US" dirty="0">
              <a:latin typeface="+mn-lt"/>
              <a:cs typeface="+mn-cs"/>
            </a:endParaRPr>
          </a:p>
          <a:p>
            <a:pPr marL="342900" indent="-342900" fontAlgn="auto">
              <a:spcBef>
                <a:spcPts val="0"/>
              </a:spcBef>
              <a:spcAft>
                <a:spcPts val="0"/>
              </a:spcAft>
              <a:defRPr/>
            </a:pPr>
            <a:endParaRPr lang="en-US" dirty="0">
              <a:latin typeface="+mn-lt"/>
              <a:cs typeface="+mn-cs"/>
            </a:endParaRPr>
          </a:p>
          <a:p>
            <a:pPr marL="342900" indent="-342900" fontAlgn="auto">
              <a:spcBef>
                <a:spcPts val="0"/>
              </a:spcBef>
              <a:spcAft>
                <a:spcPts val="0"/>
              </a:spcAft>
              <a:defRPr/>
            </a:pPr>
            <a:endParaRPr lang="en-US" dirty="0">
              <a:latin typeface="+mn-lt"/>
              <a:cs typeface="+mn-cs"/>
            </a:endParaRPr>
          </a:p>
          <a:p>
            <a:pPr marL="342900" indent="-342900" fontAlgn="auto">
              <a:spcBef>
                <a:spcPts val="0"/>
              </a:spcBef>
              <a:spcAft>
                <a:spcPts val="0"/>
              </a:spcAft>
              <a:defRPr/>
            </a:pPr>
            <a:endParaRPr lang="en-US" dirty="0">
              <a:latin typeface="+mn-lt"/>
              <a:cs typeface="+mn-cs"/>
            </a:endParaRPr>
          </a:p>
          <a:p>
            <a:pPr marL="342900" indent="-342900" fontAlgn="auto">
              <a:spcBef>
                <a:spcPts val="0"/>
              </a:spcBef>
              <a:spcAft>
                <a:spcPts val="0"/>
              </a:spcAft>
              <a:defRPr/>
            </a:pPr>
            <a:endParaRPr lang="en-US" dirty="0">
              <a:latin typeface="+mn-lt"/>
              <a:cs typeface="+mn-cs"/>
            </a:endParaRPr>
          </a:p>
          <a:p>
            <a:pPr marL="342900" indent="-342900" fontAlgn="auto">
              <a:spcBef>
                <a:spcPts val="0"/>
              </a:spcBef>
              <a:spcAft>
                <a:spcPts val="0"/>
              </a:spcAft>
              <a:defRPr/>
            </a:pPr>
            <a:endParaRPr lang="en-US" dirty="0">
              <a:latin typeface="+mn-lt"/>
              <a:cs typeface="+mn-cs"/>
            </a:endParaRPr>
          </a:p>
          <a:p>
            <a:pPr marL="342900" indent="-342900" fontAlgn="auto">
              <a:spcBef>
                <a:spcPts val="0"/>
              </a:spcBef>
              <a:spcAft>
                <a:spcPts val="0"/>
              </a:spcAft>
              <a:defRPr/>
            </a:pPr>
            <a:endParaRPr lang="en-US" dirty="0">
              <a:latin typeface="+mn-lt"/>
              <a:cs typeface="+mn-cs"/>
            </a:endParaRPr>
          </a:p>
          <a:p>
            <a:pPr marL="342900" indent="-342900" fontAlgn="auto">
              <a:spcBef>
                <a:spcPts val="0"/>
              </a:spcBef>
              <a:spcAft>
                <a:spcPts val="0"/>
              </a:spcAft>
              <a:defRPr/>
            </a:pPr>
            <a:endParaRPr lang="en-US" dirty="0">
              <a:latin typeface="+mn-lt"/>
              <a:cs typeface="+mn-cs"/>
            </a:endParaRPr>
          </a:p>
          <a:p>
            <a:pPr marL="342900" indent="-342900" fontAlgn="auto">
              <a:spcBef>
                <a:spcPts val="0"/>
              </a:spcBef>
              <a:spcAft>
                <a:spcPts val="0"/>
              </a:spcAft>
              <a:defRPr/>
            </a:pPr>
            <a:endParaRPr lang="en-US" dirty="0">
              <a:latin typeface="+mn-lt"/>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ChangeArrowheads="1"/>
          </p:cNvSpPr>
          <p:nvPr/>
        </p:nvSpPr>
        <p:spPr bwMode="auto">
          <a:xfrm>
            <a:off x="152400" y="990600"/>
            <a:ext cx="8763000" cy="4648200"/>
          </a:xfrm>
          <a:prstGeom prst="rect">
            <a:avLst/>
          </a:prstGeom>
          <a:noFill/>
          <a:ln w="9525">
            <a:noFill/>
            <a:miter lim="800000"/>
            <a:headEnd/>
            <a:tailEnd/>
          </a:ln>
        </p:spPr>
        <p:txBody>
          <a:bodyPr>
            <a:spAutoFit/>
          </a:bodyPr>
          <a:lstStyle/>
          <a:p>
            <a:endParaRPr lang="en-US" sz="2000" dirty="0">
              <a:latin typeface="Constantia" pitchFamily="18" charset="0"/>
            </a:endParaRPr>
          </a:p>
          <a:p>
            <a:r>
              <a:rPr lang="en-US" sz="2400" b="1" dirty="0">
                <a:latin typeface="Constantia" pitchFamily="18" charset="0"/>
              </a:rPr>
              <a:t>5. Non Availability of Infrastructural Facilities. </a:t>
            </a:r>
            <a:r>
              <a:rPr lang="en-US" sz="2400" dirty="0">
                <a:latin typeface="Constantia" pitchFamily="18" charset="0"/>
              </a:rPr>
              <a:t>No prior planning is done for the conduct of EDPs. EDPs conducted in rural and backward areas lack infrastructural facilities like proper class room suitable guest speakers, boarding and lodging etc.</a:t>
            </a:r>
          </a:p>
          <a:p>
            <a:endParaRPr lang="en-US" sz="2400" dirty="0">
              <a:latin typeface="Constantia" pitchFamily="18" charset="0"/>
            </a:endParaRPr>
          </a:p>
          <a:p>
            <a:r>
              <a:rPr lang="en-US" sz="2400" b="1" dirty="0">
                <a:latin typeface="Constantia" pitchFamily="18" charset="0"/>
              </a:rPr>
              <a:t>6. Improper Methodology. </a:t>
            </a:r>
            <a:r>
              <a:rPr lang="en-US" sz="2400" dirty="0">
                <a:latin typeface="Constantia" pitchFamily="18" charset="0"/>
              </a:rPr>
              <a:t>The course contents are not standardized and most of the agencies engaged in EDPs are themselves not fully clear about what they are supposed to do for the attainment of pre-determined goals. This puts a question mark on the utility of these </a:t>
            </a:r>
            <a:r>
              <a:rPr lang="en-US" sz="2400" dirty="0" err="1">
                <a:latin typeface="Constantia" pitchFamily="18" charset="0"/>
              </a:rPr>
              <a:t>programmes</a:t>
            </a:r>
            <a:r>
              <a:rPr lang="en-US" sz="2400" dirty="0">
                <a:latin typeface="Constantia" pitchFamily="18" charset="0"/>
              </a:rPr>
              <a:t>.</a:t>
            </a:r>
          </a:p>
          <a:p>
            <a:endParaRPr lang="en-US" dirty="0">
              <a:latin typeface="Constantia" pitchFamily="18" charset="0"/>
            </a:endParaRPr>
          </a:p>
          <a:p>
            <a:endParaRPr lang="en-US" dirty="0">
              <a:latin typeface="Constantia"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457200"/>
            <a:ext cx="8229600" cy="838200"/>
          </a:xfrm>
        </p:spPr>
        <p:txBody>
          <a:bodyPr/>
          <a:lstStyle/>
          <a:p>
            <a:pPr algn="ctr" eaLnBrk="1" hangingPunct="1"/>
            <a:r>
              <a:rPr lang="en-US" sz="4500" b="1" dirty="0" smtClean="0"/>
              <a:t>Need</a:t>
            </a:r>
            <a:r>
              <a:rPr lang="en-US" b="1" dirty="0" smtClean="0"/>
              <a:t> of Entrepreneurship</a:t>
            </a:r>
            <a:endParaRPr lang="en-IN" b="1" dirty="0" smtClean="0"/>
          </a:p>
        </p:txBody>
      </p:sp>
      <p:sp>
        <p:nvSpPr>
          <p:cNvPr id="3" name="Content Placeholder 2"/>
          <p:cNvSpPr>
            <a:spLocks noGrp="1"/>
          </p:cNvSpPr>
          <p:nvPr>
            <p:ph idx="1"/>
          </p:nvPr>
        </p:nvSpPr>
        <p:spPr>
          <a:xfrm>
            <a:off x="457200" y="1371600"/>
            <a:ext cx="8229600" cy="4876800"/>
          </a:xfrm>
        </p:spPr>
        <p:txBody>
          <a:bodyPr>
            <a:noAutofit/>
          </a:bodyPr>
          <a:lstStyle/>
          <a:p>
            <a:pPr eaLnBrk="1" fontAlgn="auto" hangingPunct="1">
              <a:lnSpc>
                <a:spcPct val="150000"/>
              </a:lnSpc>
              <a:spcAft>
                <a:spcPts val="0"/>
              </a:spcAft>
              <a:buClr>
                <a:schemeClr val="accent3"/>
              </a:buClr>
              <a:buFont typeface="Arial" pitchFamily="34" charset="0"/>
              <a:buChar char="•"/>
              <a:defRPr/>
            </a:pPr>
            <a:r>
              <a:rPr lang="en-IN" sz="2800" b="1" dirty="0" smtClean="0"/>
              <a:t> </a:t>
            </a:r>
            <a:r>
              <a:rPr lang="en-US" sz="2400" dirty="0" smtClean="0">
                <a:cs typeface="Times New Roman" pitchFamily="18" charset="0"/>
              </a:rPr>
              <a:t>Increases national production</a:t>
            </a:r>
          </a:p>
          <a:p>
            <a:pPr eaLnBrk="1" fontAlgn="auto" hangingPunct="1">
              <a:lnSpc>
                <a:spcPct val="150000"/>
              </a:lnSpc>
              <a:spcAft>
                <a:spcPts val="0"/>
              </a:spcAft>
              <a:buClr>
                <a:schemeClr val="accent3"/>
              </a:buClr>
              <a:buFont typeface="Arial" pitchFamily="34" charset="0"/>
              <a:buChar char="•"/>
              <a:defRPr/>
            </a:pPr>
            <a:r>
              <a:rPr lang="en-US" sz="2400" dirty="0" smtClean="0">
                <a:cs typeface="Times New Roman" pitchFamily="18" charset="0"/>
              </a:rPr>
              <a:t>Balanced area development</a:t>
            </a:r>
          </a:p>
          <a:p>
            <a:pPr eaLnBrk="1" fontAlgn="auto" hangingPunct="1">
              <a:lnSpc>
                <a:spcPct val="150000"/>
              </a:lnSpc>
              <a:spcAft>
                <a:spcPts val="0"/>
              </a:spcAft>
              <a:buClr>
                <a:schemeClr val="accent3"/>
              </a:buClr>
              <a:buFont typeface="Arial" pitchFamily="34" charset="0"/>
              <a:buChar char="•"/>
              <a:defRPr/>
            </a:pPr>
            <a:r>
              <a:rPr lang="en-US" sz="2400" dirty="0" smtClean="0">
                <a:cs typeface="Times New Roman" pitchFamily="18" charset="0"/>
              </a:rPr>
              <a:t>Dispersal of economic power</a:t>
            </a:r>
          </a:p>
          <a:p>
            <a:pPr eaLnBrk="1" fontAlgn="auto" hangingPunct="1">
              <a:lnSpc>
                <a:spcPct val="150000"/>
              </a:lnSpc>
              <a:spcAft>
                <a:spcPts val="0"/>
              </a:spcAft>
              <a:buClr>
                <a:schemeClr val="accent3"/>
              </a:buClr>
              <a:buFont typeface="Arial" pitchFamily="34" charset="0"/>
              <a:buChar char="•"/>
              <a:defRPr/>
            </a:pPr>
            <a:r>
              <a:rPr lang="en-US" sz="2400" dirty="0" smtClean="0">
                <a:cs typeface="Times New Roman" pitchFamily="18" charset="0"/>
              </a:rPr>
              <a:t>Reinvestment of profit for the welfare of the area of profit generation</a:t>
            </a:r>
          </a:p>
          <a:p>
            <a:pPr eaLnBrk="1" fontAlgn="auto" hangingPunct="1">
              <a:lnSpc>
                <a:spcPct val="150000"/>
              </a:lnSpc>
              <a:spcAft>
                <a:spcPts val="0"/>
              </a:spcAft>
              <a:buClr>
                <a:schemeClr val="accent3"/>
              </a:buClr>
              <a:buFont typeface="Arial" pitchFamily="34" charset="0"/>
              <a:buChar char="•"/>
              <a:defRPr/>
            </a:pPr>
            <a:r>
              <a:rPr lang="en-US" sz="2400" dirty="0" smtClean="0">
                <a:cs typeface="Times New Roman" pitchFamily="18" charset="0"/>
              </a:rPr>
              <a:t>Development is a function of motivation and human resource</a:t>
            </a:r>
          </a:p>
          <a:p>
            <a:pPr eaLnBrk="1" fontAlgn="auto" hangingPunct="1">
              <a:lnSpc>
                <a:spcPct val="150000"/>
              </a:lnSpc>
              <a:spcAft>
                <a:spcPts val="0"/>
              </a:spcAft>
              <a:buClr>
                <a:schemeClr val="accent3"/>
              </a:buClr>
              <a:buFont typeface="Arial" pitchFamily="34" charset="0"/>
              <a:buChar char="•"/>
              <a:defRPr/>
            </a:pPr>
            <a:r>
              <a:rPr lang="en-US" sz="2400" dirty="0" smtClean="0">
                <a:cs typeface="Times New Roman" pitchFamily="18" charset="0"/>
              </a:rPr>
              <a:t>Entrepreneurial awareness</a:t>
            </a: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a:buNone/>
              <a:defRPr/>
            </a:pPr>
            <a:r>
              <a:rPr lang="en-US" sz="2800" dirty="0" smtClean="0">
                <a:latin typeface="Times New Roman" pitchFamily="18" charset="0"/>
                <a:cs typeface="Times New Roman" pitchFamily="18" charset="0"/>
              </a:rPr>
              <a:t>Development is a function of motivation and human resource</a:t>
            </a:r>
          </a:p>
          <a:p>
            <a:pPr eaLnBrk="1" fontAlgn="auto" hangingPunct="1">
              <a:spcAft>
                <a:spcPts val="0"/>
              </a:spcAft>
              <a:buClr>
                <a:schemeClr val="accent3"/>
              </a:buClr>
              <a:buFont typeface="Wingdings 2"/>
              <a:buNone/>
              <a:defRPr/>
            </a:pPr>
            <a:endParaRPr lang="en-US" sz="2800" dirty="0" smtClean="0">
              <a:latin typeface="Times New Roman" pitchFamily="18" charset="0"/>
              <a:cs typeface="Times New Roman" pitchFamily="18" charset="0"/>
            </a:endParaRPr>
          </a:p>
          <a:p>
            <a:pPr eaLnBrk="1" fontAlgn="auto" hangingPunct="1">
              <a:spcAft>
                <a:spcPts val="0"/>
              </a:spcAft>
              <a:buClr>
                <a:schemeClr val="accent3"/>
              </a:buClr>
              <a:buFont typeface="Wingdings 2" pitchFamily="18" charset="2"/>
              <a:buChar char=""/>
              <a:defRPr/>
            </a:pPr>
            <a:r>
              <a:rPr lang="en-US" sz="2800" dirty="0" smtClean="0">
                <a:latin typeface="Times New Roman" pitchFamily="18" charset="0"/>
                <a:cs typeface="Times New Roman" pitchFamily="18" charset="0"/>
              </a:rPr>
              <a:t>Entrepreneurial awareness</a:t>
            </a:r>
            <a:endParaRPr lang="en-IN" sz="2800" b="1" dirty="0" smtClean="0"/>
          </a:p>
          <a:p>
            <a:pPr marL="274320" indent="-274320" eaLnBrk="1" fontAlgn="auto" hangingPunct="1">
              <a:spcAft>
                <a:spcPts val="0"/>
              </a:spcAft>
              <a:buClr>
                <a:schemeClr val="accent3"/>
              </a:buClr>
              <a:buFont typeface="Wingdings 2"/>
              <a:buNone/>
              <a:defRPr/>
            </a:pPr>
            <a:endParaRPr lang="en-IN" sz="2800" b="1" dirty="0" smtClean="0"/>
          </a:p>
          <a:p>
            <a:pPr marL="274320" indent="-274320" eaLnBrk="1" fontAlgn="auto" hangingPunct="1">
              <a:spcAft>
                <a:spcPts val="0"/>
              </a:spcAft>
              <a:buClr>
                <a:schemeClr val="accent3"/>
              </a:buClr>
              <a:buFont typeface="Wingdings 2"/>
              <a:buNone/>
              <a:defRPr/>
            </a:pPr>
            <a:endParaRPr lang="en-IN" sz="2800" b="1" dirty="0" smtClean="0"/>
          </a:p>
          <a:p>
            <a:pPr marL="274320" indent="-274320" eaLnBrk="1" fontAlgn="auto" hangingPunct="1">
              <a:spcAft>
                <a:spcPts val="0"/>
              </a:spcAft>
              <a:buClr>
                <a:schemeClr val="accent3"/>
              </a:buClr>
              <a:buFont typeface="Wingdings 2"/>
              <a:buNone/>
              <a:defRPr/>
            </a:pPr>
            <a:endParaRPr lang="en-IN" sz="2800" dirty="0" smtClean="0"/>
          </a:p>
          <a:p>
            <a:pPr marL="274320" indent="-274320" eaLnBrk="1" fontAlgn="auto" hangingPunct="1">
              <a:spcAft>
                <a:spcPts val="0"/>
              </a:spcAft>
              <a:buClr>
                <a:schemeClr val="accent3"/>
              </a:buClr>
              <a:buFont typeface="Wingdings 2"/>
              <a:buNone/>
              <a:defRPr/>
            </a:pPr>
            <a:endParaRPr lang="en-US" sz="2800" b="1" dirty="0" smtClean="0"/>
          </a:p>
          <a:p>
            <a:pPr marL="274320" indent="-274320" eaLnBrk="1" fontAlgn="auto" hangingPunct="1">
              <a:spcAft>
                <a:spcPts val="0"/>
              </a:spcAft>
              <a:buClr>
                <a:schemeClr val="accent3"/>
              </a:buClr>
              <a:buFont typeface="Wingdings 2"/>
              <a:buNone/>
              <a:defRPr/>
            </a:pPr>
            <a:endParaRPr lang="en-US" sz="2800" b="1" dirty="0" smtClean="0"/>
          </a:p>
          <a:p>
            <a:pPr marL="274320" indent="-274320" eaLnBrk="1" fontAlgn="auto" hangingPunct="1">
              <a:spcAft>
                <a:spcPts val="0"/>
              </a:spcAft>
              <a:buClr>
                <a:schemeClr val="accent3"/>
              </a:buClr>
              <a:buFont typeface="Wingdings 2"/>
              <a:buNone/>
              <a:defRPr/>
            </a:pPr>
            <a:r>
              <a:rPr lang="en-IN" sz="2800" dirty="0" smtClean="0"/>
              <a:t>      Aim to create employment opportunities, and generate wealth at an incremental and sustainable rate.</a:t>
            </a:r>
            <a:endParaRPr lang="en-I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2" end="32"/>
                                            </p:txEl>
                                          </p:spTgt>
                                        </p:tgtEl>
                                        <p:attrNameLst>
                                          <p:attrName>style.visibility</p:attrName>
                                        </p:attrNameLst>
                                      </p:cBhvr>
                                      <p:to>
                                        <p:strVal val="visible"/>
                                      </p:to>
                                    </p:set>
                                    <p:anim calcmode="lin" valueType="num">
                                      <p:cBhvr additive="base">
                                        <p:cTn id="7" dur="500" fill="hold"/>
                                        <p:tgtEl>
                                          <p:spTgt spid="3">
                                            <p:txEl>
                                              <p:pRg st="32" end="3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2" end="3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838200"/>
          </a:xfrm>
        </p:spPr>
        <p:txBody>
          <a:bodyPr>
            <a:normAutofit fontScale="90000"/>
          </a:bodyPr>
          <a:lstStyle/>
          <a:p>
            <a:pPr eaLnBrk="1" fontAlgn="auto" hangingPunct="1">
              <a:spcAft>
                <a:spcPts val="0"/>
              </a:spcAft>
              <a:defRPr/>
            </a:pPr>
            <a:r>
              <a:rPr lang="en-US" dirty="0" smtClean="0"/>
              <a:t>Steps to Promote Entrepreneurship</a:t>
            </a:r>
            <a:endParaRPr lang="en-IN" dirty="0"/>
          </a:p>
        </p:txBody>
      </p:sp>
      <p:sp>
        <p:nvSpPr>
          <p:cNvPr id="3" name="Content Placeholder 2"/>
          <p:cNvSpPr>
            <a:spLocks noGrp="1"/>
          </p:cNvSpPr>
          <p:nvPr>
            <p:ph idx="1"/>
          </p:nvPr>
        </p:nvSpPr>
        <p:spPr>
          <a:xfrm>
            <a:off x="381000" y="1219200"/>
            <a:ext cx="8229600" cy="5486400"/>
          </a:xfrm>
        </p:spPr>
        <p:txBody>
          <a:bodyPr/>
          <a:lstStyle/>
          <a:p>
            <a:pPr eaLnBrk="1" hangingPunct="1">
              <a:buFont typeface="Arial" charset="0"/>
              <a:buChar char="•"/>
            </a:pPr>
            <a:r>
              <a:rPr lang="en-IN" sz="2400" dirty="0" smtClean="0"/>
              <a:t>Setup Entrepreneurial Development Institutes in every state. </a:t>
            </a:r>
          </a:p>
          <a:p>
            <a:pPr eaLnBrk="1" hangingPunct="1">
              <a:buFont typeface="Arial" charset="0"/>
              <a:buChar char="•"/>
            </a:pPr>
            <a:r>
              <a:rPr lang="en-IN" sz="2400" dirty="0" smtClean="0"/>
              <a:t>Recognize and celebrate entrepreneurship  among  youth as a     preferred career.</a:t>
            </a:r>
          </a:p>
          <a:p>
            <a:pPr eaLnBrk="1" hangingPunct="1">
              <a:buFont typeface="Arial" charset="0"/>
              <a:buChar char="•"/>
            </a:pPr>
            <a:r>
              <a:rPr lang="en-IN" sz="2400" dirty="0" smtClean="0"/>
              <a:t>Enhance access to finance for start-ups in every possible way.</a:t>
            </a:r>
          </a:p>
          <a:p>
            <a:pPr eaLnBrk="1" hangingPunct="1">
              <a:buFont typeface="Arial" charset="0"/>
              <a:buChar char="•"/>
            </a:pPr>
            <a:r>
              <a:rPr lang="en-IN" sz="2400" dirty="0" smtClean="0"/>
              <a:t>Reduce the time of starting a business and ease down the complex procedures of Govt licensing and other such activities like finance and banking etc.</a:t>
            </a:r>
          </a:p>
          <a:p>
            <a:pPr eaLnBrk="1" hangingPunct="1">
              <a:buFont typeface="Arial" charset="0"/>
              <a:buChar char="•"/>
            </a:pPr>
            <a:r>
              <a:rPr lang="en-IN" sz="2400" dirty="0" smtClean="0"/>
              <a:t>Promote entrepreneurship among women and other underprivileged.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313" y="1196975"/>
            <a:ext cx="8229600" cy="1143000"/>
          </a:xfrm>
        </p:spPr>
        <p:txBody>
          <a:bodyPr>
            <a:normAutofit fontScale="90000"/>
          </a:bodyPr>
          <a:lstStyle/>
          <a:p>
            <a:pPr algn="ctr" eaLnBrk="1" fontAlgn="auto" hangingPunct="1">
              <a:spcAft>
                <a:spcPts val="0"/>
              </a:spcAft>
              <a:defRPr/>
            </a:pPr>
            <a:r>
              <a:rPr lang="en-US" dirty="0" smtClean="0"/>
              <a:t>Every Big Enterprises Starts with a small Dream </a:t>
            </a:r>
            <a:endParaRPr lang="en-IN" sz="9800" dirty="0"/>
          </a:p>
        </p:txBody>
      </p:sp>
      <p:sp>
        <p:nvSpPr>
          <p:cNvPr id="3" name="Content Placeholder 2"/>
          <p:cNvSpPr>
            <a:spLocks noGrp="1"/>
          </p:cNvSpPr>
          <p:nvPr>
            <p:ph idx="1"/>
          </p:nvPr>
        </p:nvSpPr>
        <p:spPr>
          <a:xfrm>
            <a:off x="468313" y="5057775"/>
            <a:ext cx="8229600" cy="1800225"/>
          </a:xfrm>
        </p:spPr>
        <p:txBody>
          <a:bodyPr/>
          <a:lstStyle/>
          <a:p>
            <a:pPr algn="ctr" eaLnBrk="1" hangingPunct="1">
              <a:buFont typeface="Wingdings 2" pitchFamily="18" charset="2"/>
              <a:buNone/>
            </a:pPr>
            <a:r>
              <a:rPr lang="en-IN" smtClean="0"/>
              <a:t/>
            </a:r>
            <a:br>
              <a:rPr lang="en-IN" smtClean="0"/>
            </a:br>
            <a:r>
              <a:rPr lang="en-IN" smtClean="0"/>
              <a:t>So Keep Dreaming ……………………</a:t>
            </a:r>
          </a:p>
          <a:p>
            <a:pPr eaLnBrk="1" hangingPunct="1">
              <a:buFont typeface="Wingdings 2" pitchFamily="18" charset="2"/>
              <a:buNone/>
            </a:pPr>
            <a:endParaRPr lang="en-IN" smtClean="0"/>
          </a:p>
        </p:txBody>
      </p:sp>
      <p:pic>
        <p:nvPicPr>
          <p:cNvPr id="4" name="Picture 3" descr="http://sanki.in/wp-content/uploads/2012/08/incubate-e1344356824245.jpg"/>
          <p:cNvPicPr>
            <a:picLocks noChangeAspect="1" noChangeArrowheads="1"/>
          </p:cNvPicPr>
          <p:nvPr/>
        </p:nvPicPr>
        <p:blipFill>
          <a:blip r:embed="rId2"/>
          <a:srcRect/>
          <a:stretch>
            <a:fillRect/>
          </a:stretch>
        </p:blipFill>
        <p:spPr bwMode="auto">
          <a:xfrm>
            <a:off x="3059113" y="2852738"/>
            <a:ext cx="2857500" cy="21240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withEffect">
                                  <p:stCondLst>
                                    <p:cond delay="0"/>
                                  </p:stCondLst>
                                  <p:childTnLst>
                                    <p:animRot by="21600000">
                                      <p:cBhvr>
                                        <p:cTn id="6" dur="2000" fill="hold"/>
                                        <p:tgtEl>
                                          <p:spTgt spid="2"/>
                                        </p:tgtEl>
                                        <p:attrNameLst>
                                          <p:attrName>r</p:attrName>
                                        </p:attrNameLst>
                                      </p:cBhvr>
                                    </p:animRot>
                                  </p:childTnLst>
                                </p:cTn>
                              </p:par>
                              <p:par>
                                <p:cTn id="7" presetID="6" presetClass="emph" presetSubtype="0" fill="hold" nodeType="withEffect">
                                  <p:stCondLst>
                                    <p:cond delay="0"/>
                                  </p:stCondLst>
                                  <p:childTnLst>
                                    <p:animScale>
                                      <p:cBhvr>
                                        <p:cTn id="8" dur="2000" fill="hold"/>
                                        <p:tgtEl>
                                          <p:spTgt spid="4"/>
                                        </p:tgtEl>
                                      </p:cBhvr>
                                      <p:by x="150000" y="150000"/>
                                    </p:animScale>
                                  </p:childTnLst>
                                </p:cTn>
                              </p:par>
                              <p:par>
                                <p:cTn id="9" presetID="6" presetClass="emph" presetSubtype="0" fill="hold" nodeType="withEffect">
                                  <p:stCondLst>
                                    <p:cond delay="0"/>
                                  </p:stCondLst>
                                  <p:childTnLst>
                                    <p:animScale>
                                      <p:cBhvr>
                                        <p:cTn id="10" dur="2000" fill="hold"/>
                                        <p:tgtEl>
                                          <p:spTgt spid="3">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808</TotalTime>
  <Words>915</Words>
  <Application>Microsoft Office PowerPoint</Application>
  <PresentationFormat>On-screen Show (4:3)</PresentationFormat>
  <Paragraphs>146</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Flow</vt:lpstr>
      <vt:lpstr>Who is an Entrepreneur............</vt:lpstr>
      <vt:lpstr>  </vt:lpstr>
      <vt:lpstr>Working Definition</vt:lpstr>
      <vt:lpstr>Slide 4</vt:lpstr>
      <vt:lpstr>ENTERPRISE :</vt:lpstr>
      <vt:lpstr>ENTREPRENEURSHIP   may defined in various ways, but the four key elements involved in it are: </vt:lpstr>
      <vt:lpstr>Types of Participants</vt:lpstr>
      <vt:lpstr>Entrepreneurial Characteristics </vt:lpstr>
      <vt:lpstr>Entrepreneurial Characteristics</vt:lpstr>
      <vt:lpstr>Entrepreneurial Characteristics</vt:lpstr>
      <vt:lpstr>                         Stages of Entrepreneurship  </vt:lpstr>
      <vt:lpstr>Slide 12</vt:lpstr>
      <vt:lpstr>Classification of Entrepreneur</vt:lpstr>
      <vt:lpstr>Slide 14</vt:lpstr>
      <vt:lpstr>Slide 15</vt:lpstr>
      <vt:lpstr>Slide 16</vt:lpstr>
      <vt:lpstr>Slide 17</vt:lpstr>
      <vt:lpstr>Slide 18</vt:lpstr>
      <vt:lpstr>Need of Entrepreneurship</vt:lpstr>
      <vt:lpstr>Steps to Promote Entrepreneurship</vt:lpstr>
      <vt:lpstr>Every Big Enterprises Starts with a small Dream </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on  Entrepreneurship</dc:title>
  <dc:creator>Deep</dc:creator>
  <cp:lastModifiedBy>Lenovo</cp:lastModifiedBy>
  <cp:revision>75</cp:revision>
  <dcterms:created xsi:type="dcterms:W3CDTF">2012-12-20T15:51:36Z</dcterms:created>
  <dcterms:modified xsi:type="dcterms:W3CDTF">2025-07-16T09:03:24Z</dcterms:modified>
</cp:coreProperties>
</file>