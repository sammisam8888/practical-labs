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en-US" dirty="0"/>
              <a:t>Business legal compliance refers to adhering to laws, regulations, and industry standards governing businesses’ operations. It encompasses various aspects, including:</a:t>
            </a:r>
            <a:endParaRPr lang="en-US" altLang="en-US" dirty="0"/>
          </a:p>
        </p:txBody>
      </p:sp>
      <p:sp>
        <p:nvSpPr>
          <p:cNvPr id="3" name="Subtitle 2"/>
          <p:cNvSpPr>
            <a:spLocks noGrp="1"/>
          </p:cNvSpPr>
          <p:nvPr>
            <p:ph type="subTitle" idx="1"/>
          </p:nvPr>
        </p:nvSpPr>
        <p:spPr>
          <a:xfrm>
            <a:off x="4038600" y="3581400"/>
            <a:ext cx="6400800" cy="1752600"/>
          </a:xfrm>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0000"/>
          </a:bodyPr>
          <a:lstStyle/>
          <a:p>
            <a:pPr algn="just">
              <a:buNone/>
            </a:pPr>
            <a:r>
              <a:rPr lang="en-US" altLang="en-US" dirty="0"/>
              <a:t>Formation and Structure: Choosing the right legal structure for your business (sole proprietorship, partnership, LLC, or corporation) has legal and tax implications.</a:t>
            </a:r>
            <a:endParaRPr lang="en-US" altLang="en-US" dirty="0"/>
          </a:p>
          <a:p>
            <a:pPr algn="just">
              <a:buNone/>
            </a:pPr>
            <a:r>
              <a:rPr lang="en-US" altLang="en-US" dirty="0"/>
              <a:t>Licenses and Permits: You may need specific licenses and permits to operate legally, depending on your industry and location.</a:t>
            </a:r>
            <a:endParaRPr lang="en-US" altLang="en-US" dirty="0"/>
          </a:p>
          <a:p>
            <a:pPr algn="just">
              <a:buNone/>
            </a:pPr>
            <a:r>
              <a:rPr lang="en-US" altLang="en-US" dirty="0"/>
              <a:t>Taxation: Understanding and complying with federal, state, and local tax regulations is crucial to avoid penalties and ensure financial stability.</a:t>
            </a:r>
            <a:endParaRPr lang="en-US" altLang="en-US" dirty="0"/>
          </a:p>
          <a:p>
            <a:pPr algn="just">
              <a:buNone/>
            </a:pPr>
            <a:r>
              <a:rPr lang="en-US" altLang="en-US" dirty="0"/>
              <a:t>Employment Law: Regulations governing hiring, compensation, benefits, termination, and employee rights must be followed for a fair and compliant workplace.</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a:bodyPr>
          <a:lstStyle/>
          <a:p>
            <a:pPr algn="just"/>
            <a:r>
              <a:rPr lang="en-US" altLang="en-US" dirty="0"/>
              <a:t>Data Privacy: With an increasing emphasis on data protection, businesses must handle customer and employee information responsibly according to relevant data privacy laws.</a:t>
            </a:r>
            <a:endParaRPr lang="en-US" altLang="en-US" dirty="0"/>
          </a:p>
          <a:p>
            <a:pPr algn="just"/>
            <a:r>
              <a:rPr lang="en-US" altLang="en-US" dirty="0"/>
              <a:t>Consumer Protection: Fair advertising practices, product safety regulations, and warranty obligations all fall under consumer protection laws that businesses must adhere to.</a:t>
            </a:r>
            <a:endParaRPr lang="en-US" altLang="en-US" dirty="0"/>
          </a:p>
          <a:p>
            <a:pPr algn="just"/>
            <a:r>
              <a:rPr lang="en-US" altLang="en-US" dirty="0"/>
              <a:t>Contract Law: Understanding contract formation, interpretation, and execution is essential for any business transaction.</a:t>
            </a:r>
            <a:endParaRPr lang="en-US" altLang="en-US" dirty="0"/>
          </a:p>
          <a:p>
            <a:pPr algn="just"/>
            <a:r>
              <a:rPr lang="en-US" altLang="en-US" dirty="0"/>
              <a:t>Intellectual Property: Protecting your intellectual property rights, such as trademarks, copyrights, and patents, safeguards your brand and innovations.</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Why is Business Legal Compliance Important?</a:t>
            </a:r>
            <a:endParaRPr lang="en-US" altLang="en-US" dirty="0"/>
          </a:p>
        </p:txBody>
      </p:sp>
      <p:sp>
        <p:nvSpPr>
          <p:cNvPr id="3" name="Content Placeholder 2"/>
          <p:cNvSpPr>
            <a:spLocks noGrp="1"/>
          </p:cNvSpPr>
          <p:nvPr>
            <p:ph idx="1"/>
          </p:nvPr>
        </p:nvSpPr>
        <p:spPr/>
        <p:txBody>
          <a:bodyPr>
            <a:normAutofit fontScale="70000"/>
          </a:bodyPr>
          <a:lstStyle/>
          <a:p>
            <a:pPr algn="just">
              <a:buNone/>
            </a:pPr>
            <a:r>
              <a:rPr lang="en-US" altLang="en-US" dirty="0"/>
              <a:t>Maintaining legal compliance is not just about avoiding fines and penalties. It offers a multitude of benefits for your business, including:   </a:t>
            </a:r>
            <a:endParaRPr lang="en-US" altLang="en-US" dirty="0"/>
          </a:p>
          <a:p>
            <a:pPr algn="just">
              <a:buNone/>
            </a:pPr>
            <a:r>
              <a:rPr lang="en-US" altLang="en-US" dirty="0"/>
              <a:t>Reduces Risk: Compliance minimizes legal exposure and protects your business from potential lawsuits and disputes.</a:t>
            </a:r>
            <a:endParaRPr lang="en-US" altLang="en-US" dirty="0"/>
          </a:p>
          <a:p>
            <a:pPr algn="just">
              <a:buNone/>
            </a:pPr>
            <a:r>
              <a:rPr lang="en-US" altLang="en-US" dirty="0"/>
              <a:t>Builds Trust: Demonstrating adherence to legal regulations enhances customer confidence and fosters a positive business reputation.</a:t>
            </a:r>
            <a:endParaRPr lang="en-US" altLang="en-US" dirty="0"/>
          </a:p>
          <a:p>
            <a:pPr algn="just">
              <a:buNone/>
            </a:pPr>
            <a:r>
              <a:rPr lang="en-US" altLang="en-US" dirty="0"/>
              <a:t>Ensures Smooth Operations: Clear legal guidelines create a framework for smooth business operations and decision-making.</a:t>
            </a:r>
            <a:endParaRPr lang="en-US" altLang="en-US" dirty="0"/>
          </a:p>
          <a:p>
            <a:pPr algn="just">
              <a:buNone/>
            </a:pPr>
            <a:r>
              <a:rPr lang="en-US" altLang="en-US" dirty="0"/>
              <a:t>Facilitates Growth: Compliance allows you to confidently pursue expansion opportunities, attract investors, and build partnerships.</a:t>
            </a: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a:t>Navigating International Legal Compliance in Business Expansion</a:t>
            </a:r>
            <a:endParaRPr lang="en-US" altLang="en-US"/>
          </a:p>
        </p:txBody>
      </p:sp>
      <p:sp>
        <p:nvSpPr>
          <p:cNvPr id="3" name="Content Placeholder 2"/>
          <p:cNvSpPr>
            <a:spLocks noGrp="1"/>
          </p:cNvSpPr>
          <p:nvPr>
            <p:ph idx="1"/>
          </p:nvPr>
        </p:nvSpPr>
        <p:spPr/>
        <p:txBody>
          <a:bodyPr>
            <a:normAutofit fontScale="70000"/>
          </a:bodyPr>
          <a:lstStyle/>
          <a:p>
            <a:pPr algn="just">
              <a:buNone/>
            </a:pPr>
            <a:r>
              <a:rPr lang="en-US" altLang="en-US" dirty="0"/>
              <a:t>Global Legal Compliance: Many businesses engage in international trade, partnerships, or expansion, necessitating compliance with laws and regulations beyond their home country. This includes navigating diverse legal systems, tax regimes, and cultural norms in different jurisdictions.</a:t>
            </a:r>
            <a:endParaRPr lang="en-US" altLang="en-US" dirty="0"/>
          </a:p>
          <a:p>
            <a:pPr algn="just">
              <a:buNone/>
            </a:pPr>
            <a:endParaRPr lang="en-US" altLang="en-US" dirty="0"/>
          </a:p>
          <a:p>
            <a:pPr algn="just">
              <a:buNone/>
            </a:pPr>
            <a:r>
              <a:rPr lang="en-US" altLang="en-US" dirty="0"/>
              <a:t>International Expansion: Entrepreneurs eyeing global markets must carefully consider legal requirements in target countries. This entails understanding local business formation processes, licensing requirements, employment laws, and taxation systems.</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0000"/>
          </a:bodyPr>
          <a:lstStyle/>
          <a:p>
            <a:pPr algn="just">
              <a:buNone/>
            </a:pPr>
            <a:r>
              <a:rPr lang="en-US" dirty="0" smtClean="0"/>
              <a:t>	</a:t>
            </a:r>
            <a:r>
              <a:rPr lang="en-US" altLang="en-US" dirty="0"/>
              <a:t>Cross-Border Data Protection: With data becoming a valuable asset in the digital age, businesses must navigate cross-border data transfer regulations. Compliance with laws such as the European Union’s General Data Protection Regulation (GDPR) is essential when handling the personal data of EU residents, regardless of the business’s location.</a:t>
            </a:r>
            <a:endParaRPr lang="en-US" altLang="en-US" dirty="0"/>
          </a:p>
          <a:p>
            <a:pPr algn="just">
              <a:buNone/>
            </a:pPr>
            <a:endParaRPr lang="en-US" altLang="en-US" dirty="0"/>
          </a:p>
          <a:p>
            <a:pPr algn="just">
              <a:buNone/>
            </a:pPr>
            <a:r>
              <a:rPr lang="en-US" altLang="en-US" dirty="0"/>
              <a:t>Trade Regulations: International trade involves compliance with various regulations, including tariffs, customs duties, and export controls. Entrepreneurs must navigate trade agreements, import/export restrictions, and sanctions regimes to ensure legal compliance and smooth cross-border operations.</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t>Steps to Building a Legal Compliance Culture</a:t>
            </a:r>
            <a:endParaRPr lang="en-US" altLang="en-US" dirty="0"/>
          </a:p>
        </p:txBody>
      </p:sp>
      <p:sp>
        <p:nvSpPr>
          <p:cNvPr id="3" name="Content Placeholder 2"/>
          <p:cNvSpPr>
            <a:spLocks noGrp="1"/>
          </p:cNvSpPr>
          <p:nvPr>
            <p:ph idx="1"/>
          </p:nvPr>
        </p:nvSpPr>
        <p:spPr/>
        <p:txBody>
          <a:bodyPr>
            <a:normAutofit fontScale="70000"/>
          </a:bodyPr>
          <a:lstStyle/>
          <a:p>
            <a:pPr algn="just">
              <a:buNone/>
            </a:pPr>
            <a:r>
              <a:rPr lang="en-US" dirty="0" smtClean="0"/>
              <a:t>	</a:t>
            </a:r>
            <a:r>
              <a:rPr lang="en-US" altLang="en-US" dirty="0"/>
              <a:t>Seek Professional Guidance: Consulting with a qualified business lawyer is crucial. They can help you understand your legal obligations, choose the right business structure, and navigate complex regulations specific to your industry and location.</a:t>
            </a:r>
            <a:endParaRPr lang="en-US" altLang="en-US" dirty="0"/>
          </a:p>
          <a:p>
            <a:pPr algn="just">
              <a:buNone/>
            </a:pPr>
            <a:r>
              <a:rPr lang="en-US" altLang="en-US" dirty="0"/>
              <a:t>Develop a Compliance Plan: Create a document outlining your legal requirements, policies, and procedures. This serves as a roadmap for maintaining compliance.</a:t>
            </a:r>
            <a:endParaRPr lang="en-US" altLang="en-US" dirty="0"/>
          </a:p>
          <a:p>
            <a:pPr algn="just">
              <a:buNone/>
            </a:pPr>
            <a:r>
              <a:rPr lang="en-US" altLang="en-US" dirty="0"/>
              <a:t>Implement Training Programs: Educate yourself and your employees about relevant laws and regulations. This can be through workshops, online training modules, or internal policy manuals.</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fontScale="90000" lnSpcReduction="10000"/>
          </a:bodyPr>
          <a:p>
            <a:r>
              <a:rPr lang="en-US" altLang="en-US"/>
              <a:t>Establish Compliance Monitoring Systems: Regularly monitor your business practices to ensure adherence to regulations. This may involve document management systems, internal audits, and data security checks.</a:t>
            </a:r>
            <a:endParaRPr lang="en-US" altLang="en-US"/>
          </a:p>
          <a:p>
            <a:r>
              <a:rPr lang="en-US" altLang="en-US"/>
              <a:t>Stay Updated: The legal landscape is constantly evolving. Stay informed about changes in regulations and industry standards to maintain ongoing compliance. Many legal resources and government websites offer updates and guidance.</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Key Legal Considerations for Different Business Stages</a:t>
            </a:r>
            <a:endParaRPr lang="en-US" altLang="en-US"/>
          </a:p>
        </p:txBody>
      </p:sp>
      <p:sp>
        <p:nvSpPr>
          <p:cNvPr id="3" name="Content Placeholder 2"/>
          <p:cNvSpPr>
            <a:spLocks noGrp="1"/>
          </p:cNvSpPr>
          <p:nvPr>
            <p:ph idx="1"/>
          </p:nvPr>
        </p:nvSpPr>
        <p:spPr/>
        <p:txBody>
          <a:bodyPr>
            <a:normAutofit fontScale="90000" lnSpcReduction="10000"/>
          </a:bodyPr>
          <a:p>
            <a:r>
              <a:rPr lang="en-US" altLang="en-US"/>
              <a:t>Startup Phase: Focus on proper business formation, obtaining necessary licenses and permits, and understanding tax regulations.</a:t>
            </a:r>
            <a:endParaRPr lang="en-US" altLang="en-US"/>
          </a:p>
          <a:p>
            <a:r>
              <a:rPr lang="en-US" altLang="en-US"/>
              <a:t>Growth Phase: As your business expands, pay close attention to employment law, data privacy compliance, and potential intellectual property considerations.</a:t>
            </a:r>
            <a:endParaRPr lang="en-US" altLang="en-US"/>
          </a:p>
          <a:p>
            <a:r>
              <a:rPr lang="en-US" altLang="en-US"/>
              <a:t>Maturity Phase: Review your compliance plan regularly, adapt to evolving regulations, and ensure robust risk management practices are in place.</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Global Compliance Considerations</a:t>
            </a:r>
            <a:endParaRPr lang="en-US" altLang="en-US"/>
          </a:p>
        </p:txBody>
      </p:sp>
      <p:sp>
        <p:nvSpPr>
          <p:cNvPr id="3" name="Content Placeholder 2"/>
          <p:cNvSpPr>
            <a:spLocks noGrp="1"/>
          </p:cNvSpPr>
          <p:nvPr>
            <p:ph idx="1"/>
          </p:nvPr>
        </p:nvSpPr>
        <p:spPr/>
        <p:txBody>
          <a:bodyPr>
            <a:normAutofit fontScale="90000" lnSpcReduction="20000"/>
          </a:bodyPr>
          <a:p>
            <a:r>
              <a:rPr lang="en-US" altLang="en-US"/>
              <a:t>International Taxation: Companies operating in multiple countries must navigate the complexities of international taxation, including transfer pricing, double taxation treaties, and tax reporting requirements in each jurisdiction.</a:t>
            </a:r>
            <a:endParaRPr lang="en-US" altLang="en-US"/>
          </a:p>
          <a:p>
            <a:r>
              <a:rPr lang="en-US" altLang="en-US"/>
              <a:t>Employment Laws: Employment regulations can differ widely from one country to another. Businesses must ensure they comply with local labor laws, including those related to wages, working hours, health and safety standards, and employee benefits.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146685"/>
          </a:xfrm>
        </p:spPr>
        <p:txBody>
          <a:bodyPr>
            <a:normAutofit fontScale="90000"/>
          </a:bodyPr>
          <a:p>
            <a:endParaRPr lang="en-US"/>
          </a:p>
        </p:txBody>
      </p:sp>
      <p:sp>
        <p:nvSpPr>
          <p:cNvPr id="3" name="Content Placeholder 2"/>
          <p:cNvSpPr>
            <a:spLocks noGrp="1"/>
          </p:cNvSpPr>
          <p:nvPr>
            <p:ph idx="1"/>
          </p:nvPr>
        </p:nvSpPr>
        <p:spPr>
          <a:xfrm>
            <a:off x="457200" y="838200"/>
            <a:ext cx="8229600" cy="5579110"/>
          </a:xfrm>
        </p:spPr>
        <p:txBody>
          <a:bodyPr>
            <a:normAutofit fontScale="70000"/>
          </a:bodyPr>
          <a:p>
            <a:r>
              <a:rPr lang="en-US" altLang="en-US"/>
              <a:t>Data Protection: With the rise of global data privacy regulations like the EU’s General Data Protection Regulation (GDPR) and similar laws in other regions, businesses must implement robust data protection measures to safeguard personal information across all territories they operate in.</a:t>
            </a:r>
            <a:endParaRPr lang="en-US" altLang="en-US"/>
          </a:p>
          <a:p>
            <a:r>
              <a:rPr lang="en-US" altLang="en-US"/>
              <a:t>Trade Compliance: Companies involved in international trade must comply with export and import regulations, including customs procedures, tariffs, and trade sanctions imposed by different countries.</a:t>
            </a:r>
            <a:endParaRPr lang="en-US" altLang="en-US"/>
          </a:p>
          <a:p>
            <a:r>
              <a:rPr lang="en-US" altLang="en-US"/>
              <a:t>Environmental Regulations: As environmental concerns become more prominent globally, businesses need to adhere to international environmental standards and regulations to minimize their ecological footprint.</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6044</Words>
  <Application>WPS Presentation</Application>
  <PresentationFormat>On-screen Show (4:3)</PresentationFormat>
  <Paragraphs>54</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Arial</vt:lpstr>
      <vt:lpstr>SimSun</vt:lpstr>
      <vt:lpstr>Wingdings</vt:lpstr>
      <vt:lpstr>Calibri</vt:lpstr>
      <vt:lpstr>Microsoft YaHei</vt:lpstr>
      <vt:lpstr>Arial Unicode MS</vt:lpstr>
      <vt:lpstr>Office Theme</vt:lpstr>
      <vt:lpstr>Clarence Danhof classified entrepreneurs into four groups on the basis of economic development</vt:lpstr>
      <vt:lpstr>A. Innovative Entrepreneurs</vt:lpstr>
      <vt:lpstr>PowerPoint 演示文稿</vt:lpstr>
      <vt:lpstr>B. Adoptive or Imitative Entrepreneur</vt:lpstr>
      <vt:lpstr>PowerPoint 演示文稿</vt:lpstr>
      <vt:lpstr>C. Fabian Entrepreneur</vt:lpstr>
      <vt:lpstr>D. Drone Entrepreneur</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Subhashree</cp:lastModifiedBy>
  <cp:revision>5</cp:revision>
  <dcterms:created xsi:type="dcterms:W3CDTF">2025-07-28T07:22:00Z</dcterms:created>
  <dcterms:modified xsi:type="dcterms:W3CDTF">2025-10-07T08:59:08Z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26A0E6C6FDCD457F99FAB450DD4F8D91_12</vt:lpwstr>
  </property>
  <property fmtid="{D5CDD505-2E9C-101B-9397-08002B2CF9AE}" pid="3" name="KSOProductBuildVer">
    <vt:lpwstr>1033-12.2.0.22549</vt:lpwstr>
  </property>
</Properties>
</file>