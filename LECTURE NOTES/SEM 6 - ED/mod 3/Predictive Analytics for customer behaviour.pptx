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5FFDD57-8A68-4D5F-B425-4275F8DB13A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5FFDD57-8A68-4D5F-B425-4275F8DB13A5}"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5FFDD57-8A68-4D5F-B425-4275F8DB13A5}"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FFDD57-8A68-4D5F-B425-4275F8DB13A5}"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5FFDD57-8A68-4D5F-B425-4275F8DB13A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5FFDD57-8A68-4D5F-B425-4275F8DB13A5}"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5FFDD57-8A68-4D5F-B425-4275F8DB13A5}"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44576B-EBF5-42F9-8658-BBCE5F34AD20}"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5FFDD57-8A68-4D5F-B425-4275F8DB13A5}"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4576B-EBF5-42F9-8658-BBCE5F34AD2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Predictive Analytics for Customer behavior(Sentiment Analysis and Brand Perception)</a:t>
            </a:r>
            <a:endParaRPr lang="en-US" dirty="0"/>
          </a:p>
        </p:txBody>
      </p:sp>
      <p:sp>
        <p:nvSpPr>
          <p:cNvPr id="3" name="Subtitle 2"/>
          <p:cNvSpPr>
            <a:spLocks noGrp="1"/>
          </p:cNvSpPr>
          <p:nvPr>
            <p:ph type="subTitle" idx="1"/>
          </p:nvPr>
        </p:nvSpPr>
        <p:spPr/>
        <p:txBody>
          <a:bodyPr>
            <a:normAutofit fontScale="70000"/>
          </a:bodyPr>
          <a:lstStyle/>
          <a:p>
            <a:r>
              <a:rPr lang="en-US" altLang="en-US"/>
              <a:t>Predictive analysis for customer behavior uses statistical models and machine learning to analyze historical customer data and forecast future actions, such as purchase likelihood or churn risk. </a:t>
            </a: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lgn="just">
              <a:buNone/>
            </a:pPr>
            <a:r>
              <a:rPr lang="en-US" dirty="0"/>
              <a:t>	</a:t>
            </a:r>
            <a:r>
              <a:rPr lang="en-US" altLang="en-US" dirty="0"/>
              <a:t>Businesses apply these insights to personalize experiences, optimize strategies, improve retention by identifying at-risk customers, and drive growth through data-driven decisions. The process involves collecting data, analyzing it to find patterns, building predictive models, and then using the predictions to make strategic choices.</a:t>
            </a: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How it Works</a:t>
            </a:r>
            <a:endParaRPr lang="en-US" altLang="en-US"/>
          </a:p>
        </p:txBody>
      </p:sp>
      <p:sp>
        <p:nvSpPr>
          <p:cNvPr id="3" name="Content Placeholder 2"/>
          <p:cNvSpPr>
            <a:spLocks noGrp="1"/>
          </p:cNvSpPr>
          <p:nvPr>
            <p:ph idx="1"/>
          </p:nvPr>
        </p:nvSpPr>
        <p:spPr/>
        <p:txBody>
          <a:bodyPr>
            <a:normAutofit fontScale="90000"/>
          </a:bodyPr>
          <a:lstStyle/>
          <a:p>
            <a:pPr marL="0" indent="0" algn="just">
              <a:buNone/>
            </a:pPr>
            <a:r>
              <a:rPr lang="en-US" altLang="en-US" dirty="0"/>
              <a:t>Data Collection: Gather historical and current data from various sources, including transactional databases, CRM systems, and social media. </a:t>
            </a:r>
            <a:endParaRPr lang="en-US" altLang="en-US" dirty="0"/>
          </a:p>
          <a:p>
            <a:pPr marL="0" indent="0" algn="just">
              <a:buNone/>
            </a:pPr>
            <a:r>
              <a:rPr lang="en-US" altLang="en-US" dirty="0"/>
              <a:t>Data Analysis: Use statistical algorithms and machine learning to identify patterns, trends, and correlations within the data. </a:t>
            </a:r>
            <a:endParaRPr lang="en-US" altLang="en-US" dirty="0"/>
          </a:p>
          <a:p>
            <a:pPr marL="0" indent="0" algn="just">
              <a:buNone/>
            </a:pPr>
            <a:r>
              <a:rPr lang="en-US" altLang="en-US" dirty="0"/>
              <a:t>Model Building: Develop predictive models, often using techniques like decision trees or neural networks, to forecast future behavior. </a:t>
            </a:r>
            <a:endParaRPr lang="en-US" altLang="en-US" dirty="0"/>
          </a:p>
          <a:p>
            <a:pPr marL="0" indent="0" algn="just">
              <a:buNone/>
            </a:pP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endParaRPr lang="en-US" dirty="0"/>
          </a:p>
        </p:txBody>
      </p:sp>
      <p:sp>
        <p:nvSpPr>
          <p:cNvPr id="3" name="Content Placeholder 2"/>
          <p:cNvSpPr>
            <a:spLocks noGrp="1"/>
          </p:cNvSpPr>
          <p:nvPr>
            <p:ph idx="1"/>
          </p:nvPr>
        </p:nvSpPr>
        <p:spPr/>
        <p:txBody>
          <a:bodyPr/>
          <a:lstStyle/>
          <a:p>
            <a:pPr marL="0" indent="0" algn="just">
              <a:buNone/>
            </a:pPr>
            <a:r>
              <a:rPr lang="en-US" altLang="en-US" dirty="0">
                <a:sym typeface="+mn-ea"/>
              </a:rPr>
              <a:t>Prediction: The models generate forecasts and actionable insights about individual customers or customer segments. </a:t>
            </a:r>
            <a:endParaRPr lang="en-US" altLang="en-US" dirty="0"/>
          </a:p>
          <a:p>
            <a:pPr marL="0" indent="0" algn="just">
              <a:buNone/>
            </a:pPr>
            <a:r>
              <a:rPr lang="en-US" altLang="en-US" dirty="0">
                <a:sym typeface="+mn-ea"/>
              </a:rPr>
              <a:t>Strategic Decision-Making: Leverage these predictions to make informed business decisions, such as tailoring marketing campaigns or offering incentives. </a:t>
            </a:r>
            <a:endParaRPr lang="en-US" altLang="en-US" dirty="0"/>
          </a:p>
          <a:p>
            <a:pPr algn="just">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a:t>Applications</a:t>
            </a:r>
            <a:endParaRPr lang="en-US" altLang="en-US"/>
          </a:p>
        </p:txBody>
      </p:sp>
      <p:sp>
        <p:nvSpPr>
          <p:cNvPr id="3" name="Content Placeholder 2"/>
          <p:cNvSpPr>
            <a:spLocks noGrp="1"/>
          </p:cNvSpPr>
          <p:nvPr>
            <p:ph idx="1"/>
          </p:nvPr>
        </p:nvSpPr>
        <p:spPr/>
        <p:txBody>
          <a:bodyPr>
            <a:normAutofit lnSpcReduction="10000"/>
          </a:bodyPr>
          <a:lstStyle/>
          <a:p>
            <a:pPr algn="just">
              <a:buNone/>
            </a:pPr>
            <a:r>
              <a:rPr lang="en-US" altLang="en-US" dirty="0"/>
              <a:t>Churn Prediction: Identify customers likely to leave and take proactive steps to retain them. </a:t>
            </a:r>
            <a:endParaRPr lang="en-US" altLang="en-US" dirty="0"/>
          </a:p>
          <a:p>
            <a:pPr algn="just">
              <a:buNone/>
            </a:pPr>
            <a:r>
              <a:rPr lang="en-US" altLang="en-US" dirty="0"/>
              <a:t>Personalized Marketing: Tailor marketing messages and offers based on individual customer preferences and predicted interests. </a:t>
            </a:r>
            <a:endParaRPr lang="en-US" altLang="en-US" dirty="0"/>
          </a:p>
          <a:p>
            <a:pPr algn="just">
              <a:buNone/>
            </a:pPr>
            <a:r>
              <a:rPr lang="en-US" altLang="en-US" dirty="0"/>
              <a:t>Cross-selling and Upselling: Predict which products or services customers are likely to purchase next. </a:t>
            </a:r>
            <a:endParaRPr lang="en-US"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algn="just">
              <a:buNone/>
            </a:pPr>
            <a:r>
              <a:rPr lang="en-US" altLang="en-US" dirty="0"/>
              <a:t>Recommendation Systems: Suggest relevant products or services based on a customer's past behavior and predicted needs. </a:t>
            </a:r>
            <a:endParaRPr lang="en-US" altLang="en-US" dirty="0"/>
          </a:p>
          <a:p>
            <a:pPr algn="just">
              <a:buNone/>
            </a:pPr>
            <a:r>
              <a:rPr lang="en-US" altLang="en-US" dirty="0"/>
              <a:t>Fraud Detection: Identify suspicious patterns that may indicate fraudulent activity</a:t>
            </a:r>
            <a:endParaRPr lang="en-US"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Benefits </a:t>
            </a:r>
            <a:endParaRPr lang="en-US" altLang="en-US" dirty="0"/>
          </a:p>
        </p:txBody>
      </p:sp>
      <p:sp>
        <p:nvSpPr>
          <p:cNvPr id="3" name="Content Placeholder 2"/>
          <p:cNvSpPr>
            <a:spLocks noGrp="1"/>
          </p:cNvSpPr>
          <p:nvPr>
            <p:ph idx="1"/>
          </p:nvPr>
        </p:nvSpPr>
        <p:spPr/>
        <p:txBody>
          <a:bodyPr>
            <a:normAutofit lnSpcReduction="10000"/>
          </a:bodyPr>
          <a:lstStyle/>
          <a:p>
            <a:pPr algn="just">
              <a:buNone/>
            </a:pPr>
            <a:r>
              <a:rPr lang="en-US" altLang="en-US" dirty="0"/>
              <a:t>Improved Customer Experience: Deliver personalized and relevant interactions.</a:t>
            </a:r>
            <a:endParaRPr lang="en-US" altLang="en-US" dirty="0"/>
          </a:p>
          <a:p>
            <a:pPr algn="just">
              <a:buNone/>
            </a:pPr>
            <a:r>
              <a:rPr lang="en-US" altLang="en-US" dirty="0"/>
              <a:t>Increased Revenue: Boost sales through better targeting and customer retention.</a:t>
            </a:r>
            <a:endParaRPr lang="en-US" altLang="en-US" dirty="0"/>
          </a:p>
          <a:p>
            <a:pPr algn="just">
              <a:buNone/>
            </a:pPr>
            <a:r>
              <a:rPr lang="en-US" altLang="en-US" dirty="0"/>
              <a:t>Enhanced Efficiency: Optimize marketing campaigns and resource allocation.</a:t>
            </a:r>
            <a:endParaRPr lang="en-US" altLang="en-US" dirty="0"/>
          </a:p>
          <a:p>
            <a:pPr algn="just">
              <a:buNone/>
            </a:pPr>
            <a:r>
              <a:rPr lang="en-US" altLang="en-US" dirty="0"/>
              <a:t>Competitive Advantage: Stay ahead of market trends and customer expectations.</a:t>
            </a:r>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Sentiment Analysis</a:t>
            </a:r>
            <a:endParaRPr lang="en-US"/>
          </a:p>
        </p:txBody>
      </p:sp>
      <p:sp>
        <p:nvSpPr>
          <p:cNvPr id="3" name="Content Placeholder 2"/>
          <p:cNvSpPr>
            <a:spLocks noGrp="1"/>
          </p:cNvSpPr>
          <p:nvPr>
            <p:ph idx="1"/>
          </p:nvPr>
        </p:nvSpPr>
        <p:spPr/>
        <p:txBody>
          <a:bodyPr>
            <a:normAutofit lnSpcReduction="10000"/>
          </a:bodyPr>
          <a:p>
            <a:r>
              <a:rPr lang="en-US" altLang="en-US"/>
              <a:t>Sentiment analysis is a technology that uses AI to interpret the emotional tone of online conversations and customer feedback, allowing brands to understand public perception. By analyzing mentions on social media, reviews, and other channels, brands can identify patterns in positive, negative, or neutral sentiment, providing crucial insights into brand reputation, customer satisfaction, and areas for product or service improvement. </a:t>
            </a:r>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Brand Perception</a:t>
            </a:r>
            <a:endParaRPr lang="en-US" altLang="en-US"/>
          </a:p>
        </p:txBody>
      </p:sp>
      <p:sp>
        <p:nvSpPr>
          <p:cNvPr id="3" name="Content Placeholder 2"/>
          <p:cNvSpPr>
            <a:spLocks noGrp="1"/>
          </p:cNvSpPr>
          <p:nvPr>
            <p:ph idx="1"/>
          </p:nvPr>
        </p:nvSpPr>
        <p:spPr/>
        <p:txBody>
          <a:bodyPr/>
          <a:p>
            <a:r>
              <a:rPr lang="en-US" altLang="en-US"/>
              <a:t>Brand perception is the collective emotional connection and attitude customers have towards a brand, product, or service. It's shaped by all the feelings, opinions, and judgments people express in various interactions. </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fontScale="90000"/>
          </a:bodyPr>
          <a:p>
            <a:r>
              <a:rPr lang="en-US" altLang="en-US"/>
              <a:t>How Sentiment Analysis Helps with Brand Perception</a:t>
            </a:r>
            <a:br>
              <a:rPr lang="en-US" altLang="en-US"/>
            </a:br>
            <a:endParaRPr lang="en-US" altLang="en-US"/>
          </a:p>
        </p:txBody>
      </p:sp>
      <p:sp>
        <p:nvSpPr>
          <p:cNvPr id="3" name="Content Placeholder 2"/>
          <p:cNvSpPr>
            <a:spLocks noGrp="1"/>
          </p:cNvSpPr>
          <p:nvPr>
            <p:ph idx="1"/>
          </p:nvPr>
        </p:nvSpPr>
        <p:spPr/>
        <p:txBody>
          <a:bodyPr>
            <a:normAutofit lnSpcReduction="10000"/>
          </a:bodyPr>
          <a:p>
            <a:r>
              <a:rPr lang="en-US" altLang="en-US"/>
              <a:t>Tracks Brand Health: Continuously monitoring sentiment helps brands measure their overall health and identify trends in public opinion over time. </a:t>
            </a:r>
            <a:endParaRPr lang="en-US" altLang="en-US"/>
          </a:p>
          <a:p>
            <a:r>
              <a:rPr lang="en-US" altLang="en-US"/>
              <a:t>Uncovers Customer Insights: It provides a real-time view into how customers feel, revealing their pain points, preferences, and specific emotions (like trust, satisfaction, or frustration). </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a:xfrm>
            <a:off x="457200" y="762000"/>
            <a:ext cx="8229600" cy="5471795"/>
          </a:xfrm>
        </p:spPr>
        <p:txBody>
          <a:bodyPr>
            <a:normAutofit fontScale="90000" lnSpcReduction="20000"/>
          </a:bodyPr>
          <a:p>
            <a:r>
              <a:rPr lang="en-US" altLang="en-US"/>
              <a:t>Guides Marketing &amp; Strategy: Insights from sentiment analysis help brands align their marketing efforts with customer expectations, personalize content, and respond proactively to emerging issues. </a:t>
            </a:r>
            <a:endParaRPr lang="en-US" altLang="en-US"/>
          </a:p>
          <a:p>
            <a:r>
              <a:rPr lang="en-US" altLang="en-US"/>
              <a:t>Manages Reputation: By understanding sentiment, brands can quickly address potential reputation problems, mitigate negative spread, and leverage positive feedback to strengthen their image. </a:t>
            </a:r>
            <a:endParaRPr lang="en-US" altLang="en-US"/>
          </a:p>
          <a:p>
            <a:r>
              <a:rPr lang="en-US" altLang="en-US"/>
              <a:t>Informs Product Development: It highlights areas where products or services excel or fall short, guiding targeted improvements and fostering greater customer loyalty. </a:t>
            </a:r>
            <a:endParaRPr lang="en-US" alt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3781</Words>
  <Application>WPS Presentation</Application>
  <PresentationFormat>On-screen Show (4:3)</PresentationFormat>
  <Paragraphs>50</Paragraphs>
  <Slides>11</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11</vt:i4>
      </vt:variant>
    </vt:vector>
  </HeadingPairs>
  <TitlesOfParts>
    <vt:vector size="18" baseType="lpstr">
      <vt:lpstr>Arial</vt:lpstr>
      <vt:lpstr>SimSun</vt:lpstr>
      <vt:lpstr>Wingdings</vt:lpstr>
      <vt:lpstr>Calibri</vt:lpstr>
      <vt:lpstr>Microsoft YaHei</vt:lpstr>
      <vt:lpstr>Arial Unicode MS</vt:lpstr>
      <vt:lpstr>Office Theme</vt:lpstr>
      <vt:lpstr>Clarence Danhof classified entrepreneurs into four groups on the basis of economic development</vt:lpstr>
      <vt:lpstr>A. Innovative Entrepreneurs</vt:lpstr>
      <vt:lpstr>PowerPoint 演示文稿</vt:lpstr>
      <vt:lpstr>B. Adoptive or Imitative Entrepreneur</vt:lpstr>
      <vt:lpstr>PowerPoint 演示文稿</vt:lpstr>
      <vt:lpstr>C. Fabian Entrepreneur</vt:lpstr>
      <vt:lpstr>D. Drone Entrepreneur</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Clarence Danhof classified entrepreneurs into four groups on the basis of economic development</dc:title>
  <dc:creator>Lenovo</dc:creator>
  <cp:lastModifiedBy>Subhashree</cp:lastModifiedBy>
  <cp:revision>4</cp:revision>
  <dcterms:created xsi:type="dcterms:W3CDTF">2025-07-28T07:22:00Z</dcterms:created>
  <dcterms:modified xsi:type="dcterms:W3CDTF">2025-10-07T10:34:09Z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5E2B99A73A254978A1A44173E2620840_12</vt:lpwstr>
  </property>
  <property fmtid="{D5CDD505-2E9C-101B-9397-08002B2CF9AE}" pid="3" name="KSOProductBuildVer">
    <vt:lpwstr>1033-12.2.0.22549</vt:lpwstr>
  </property>
</Properties>
</file>