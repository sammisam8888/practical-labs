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7" r:id="rId3"/>
    <p:sldId id="268" r:id="rId4"/>
    <p:sldId id="269" r:id="rId5"/>
    <p:sldId id="270" r:id="rId6"/>
    <p:sldId id="271" r:id="rId7"/>
    <p:sldId id="272" r:id="rId8"/>
    <p:sldId id="273" r:id="rId9"/>
    <p:sldId id="274"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5FFDD57-8A68-4D5F-B425-4275F8DB13A5}"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FFDD57-8A68-4D5F-B425-4275F8DB13A5}"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FFDD57-8A68-4D5F-B425-4275F8DB13A5}"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FDD57-8A68-4D5F-B425-4275F8DB13A5}"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4576B-EBF5-42F9-8658-BBCE5F34AD2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ltLang="en-US"/>
              <a:t>Basic concept of Cash Flow</a:t>
            </a:r>
            <a:endParaRPr lang="en-US" altLang="en-US"/>
          </a:p>
        </p:txBody>
      </p:sp>
      <p:sp>
        <p:nvSpPr>
          <p:cNvPr id="3" name="Subtitle 2"/>
          <p:cNvSpPr>
            <a:spLocks noGrp="1"/>
          </p:cNvSpPr>
          <p:nvPr>
            <p:ph type="subTitle" idx="1"/>
          </p:nvPr>
        </p:nvSpPr>
        <p:spPr/>
        <p:txBody>
          <a:bodyPr>
            <a:normAutofit fontScale="50000"/>
          </a:bodyPr>
          <a:p>
            <a:r>
              <a:rPr lang="en-US" altLang="en-US"/>
              <a:t>Cash flow is the movement of money into and out of a business over a specific period. It tracks the company's liquidity, or how much cash is available to cover operating expenses and debt obligations. Maintaining a positive cash flow, where inflows exceed outflows, is vital for a business's long-term financial health. </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10000"/>
          </a:bodyPr>
          <a:p>
            <a:r>
              <a:rPr lang="en-US" altLang="en-US"/>
              <a:t>Core concepts</a:t>
            </a:r>
            <a:endParaRPr lang="en-US" altLang="en-US"/>
          </a:p>
          <a:p>
            <a:r>
              <a:rPr lang="en-US" altLang="en-US"/>
              <a:t>Positive vs. negative cash flow:</a:t>
            </a:r>
            <a:endParaRPr lang="en-US" altLang="en-US"/>
          </a:p>
          <a:p>
            <a:r>
              <a:rPr lang="en-US" altLang="en-US"/>
              <a:t>Positive cash flow means a company has more money coming in than going out, signaling financial strength and stability.</a:t>
            </a:r>
            <a:endParaRPr lang="en-US" altLang="en-US"/>
          </a:p>
          <a:p>
            <a:r>
              <a:rPr lang="en-US" altLang="en-US"/>
              <a:t>Negative cash flow means the company is spending more than it is receiving. While a sustained negative cash flow is unhealthy, it can sometimes be the result of a strategic decision, such as significant investment in future growth.</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80000"/>
          </a:bodyPr>
          <a:p>
            <a:r>
              <a:rPr lang="en-US" altLang="en-US"/>
              <a:t>Cash flow vs. profit: A key difference is how they are calculated.</a:t>
            </a:r>
            <a:endParaRPr lang="en-US" altLang="en-US"/>
          </a:p>
          <a:p>
            <a:r>
              <a:rPr lang="en-US" altLang="en-US"/>
              <a:t>Cash flow uses a cash accounting approach, tracking only actual cash transactions. It offers a clearer picture of the business's short-term financial viability.</a:t>
            </a:r>
            <a:endParaRPr lang="en-US" altLang="en-US"/>
          </a:p>
          <a:p>
            <a:r>
              <a:rPr lang="en-US" altLang="en-US"/>
              <a:t>Profit is based on accrual accounting, which recognizes revenues when they are earned and expenses when they are incurred, regardless of when cash is exchanged. A company can be profitable on paper but still have a negative cash flow if customers aren't paying quickly. </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The cash flow statement</a:t>
            </a:r>
            <a:endParaRPr lang="en-US" altLang="en-US"/>
          </a:p>
          <a:p>
            <a:r>
              <a:rPr lang="en-US" altLang="en-US"/>
              <a:t>Publicly traded companies are required to publish a cash flow statement as part of their financial reporting, and many private companies also use it for internal planning. The statement is divided into three sections that reflect the three main types of business activities.</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US" altLang="en-US"/>
              <a:t>Operating activities: This section reports the cash generated from or used in the company's core business operations. It shows whether the business can sustain and grow its operations from its primary activities.</a:t>
            </a:r>
            <a:endParaRPr lang="en-US" altLang="en-US"/>
          </a:p>
          <a:p>
            <a:r>
              <a:rPr lang="en-US" altLang="en-US"/>
              <a:t>Cash inflows include money from the sale of goods and services.</a:t>
            </a:r>
            <a:endParaRPr lang="en-US" altLang="en-US"/>
          </a:p>
          <a:p>
            <a:r>
              <a:rPr lang="en-US" altLang="en-US"/>
              <a:t>Cash outflows include payments for inventory, payroll, taxes, and other daily expenses.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r>
              <a:rPr lang="en-US" altLang="en-US"/>
              <a:t>Investing activities: This section reflects the cash used for or generated from a company's investment activities.</a:t>
            </a:r>
            <a:endParaRPr lang="en-US" altLang="en-US"/>
          </a:p>
          <a:p>
            <a:r>
              <a:rPr lang="en-US" altLang="en-US"/>
              <a:t>Cash inflows include proceeds from the sale of long-term assets, such as property, equipment, or investments in other companies.</a:t>
            </a:r>
            <a:endParaRPr lang="en-US" altLang="en-US"/>
          </a:p>
          <a:p>
            <a:r>
              <a:rPr lang="en-US" altLang="en-US"/>
              <a:t>Cash outflows are for the purchase of these assets and long-term investments.</a:t>
            </a:r>
            <a:endParaRPr lang="en-US" altLang="en-US"/>
          </a:p>
          <a:p>
            <a:r>
              <a:rPr lang="en-US" altLang="en-US"/>
              <a:t>Financing activities: This section details the cash flow between a company and its owners or creditors.</a:t>
            </a:r>
            <a:endParaRPr lang="en-US" altLang="en-US"/>
          </a:p>
          <a:p>
            <a:r>
              <a:rPr lang="en-US" altLang="en-US"/>
              <a:t>Cash inflows include issuing stock or borrowing funds.</a:t>
            </a:r>
            <a:endParaRPr lang="en-US" altLang="en-US"/>
          </a:p>
          <a:p>
            <a:r>
              <a:rPr lang="en-US" altLang="en-US"/>
              <a:t>Cash outflows include repaying debt, paying dividends to shareholders, and repurchasing company stock. </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Working Capital Management</a:t>
            </a:r>
            <a:endParaRPr lang="en-US"/>
          </a:p>
        </p:txBody>
      </p:sp>
      <p:sp>
        <p:nvSpPr>
          <p:cNvPr id="3" name="Content Placeholder 2"/>
          <p:cNvSpPr>
            <a:spLocks noGrp="1"/>
          </p:cNvSpPr>
          <p:nvPr>
            <p:ph idx="1"/>
          </p:nvPr>
        </p:nvSpPr>
        <p:spPr/>
        <p:txBody>
          <a:bodyPr>
            <a:normAutofit lnSpcReduction="20000"/>
          </a:bodyPr>
          <a:p>
            <a:r>
              <a:rPr lang="en-US" altLang="en-US"/>
              <a:t>Working capital management is the process of overseeing a company's short-term assets and liabilities, like cash, inventory, accounts receivable, and accounts payable, to ensure smooth, day-to-day operations. Its goals are to maintain liquidity to meet obligations, manage cash flow efficiently, optimize inventory levels, and maximize profitability. Effective management ensures a business can pay its bills and fund its operations without disruption. </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10000"/>
          </a:bodyPr>
          <a:p>
            <a:r>
              <a:rPr lang="en-US" altLang="en-US"/>
              <a:t>Inventory: Managing the levels of raw materials, work-in-progress, and finished goods to avoid overstocking or stockouts. </a:t>
            </a:r>
            <a:endParaRPr lang="en-US" altLang="en-US"/>
          </a:p>
          <a:p>
            <a:r>
              <a:rPr lang="en-US" altLang="en-US"/>
              <a:t>Accounts Receivable: Collecting money owed by customers promptly. </a:t>
            </a:r>
            <a:endParaRPr lang="en-US" altLang="en-US"/>
          </a:p>
          <a:p>
            <a:r>
              <a:rPr lang="en-US" altLang="en-US"/>
              <a:t>Accounts Payable: Managing payments to suppliers efficiently, which includes negotiating favorable terms. </a:t>
            </a:r>
            <a:endParaRPr lang="en-US" altLang="en-US"/>
          </a:p>
          <a:p>
            <a:r>
              <a:rPr lang="en-US" altLang="en-US"/>
              <a:t>Cash: Maintaining an adequate cash balance to cover immediate expenses and unexpected costs. </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Objectives</a:t>
            </a:r>
            <a:endParaRPr lang="en-US" altLang="en-US"/>
          </a:p>
        </p:txBody>
      </p:sp>
      <p:sp>
        <p:nvSpPr>
          <p:cNvPr id="3" name="Content Placeholder 2"/>
          <p:cNvSpPr>
            <a:spLocks noGrp="1"/>
          </p:cNvSpPr>
          <p:nvPr>
            <p:ph idx="1"/>
          </p:nvPr>
        </p:nvSpPr>
        <p:spPr/>
        <p:txBody>
          <a:bodyPr>
            <a:normAutofit fontScale="90000" lnSpcReduction="20000"/>
          </a:bodyPr>
          <a:p>
            <a:r>
              <a:rPr lang="en-US" altLang="en-US"/>
              <a:t>Ensure liquidity: Having enough cash on hand to pay short-term debts as they become due. </a:t>
            </a:r>
            <a:endParaRPr lang="en-US" altLang="en-US"/>
          </a:p>
          <a:p>
            <a:r>
              <a:rPr lang="en-US" altLang="en-US"/>
              <a:t>Improve cash flow: Balancing the timing of cash inflows and outflows to ensure there is always enough cash available. </a:t>
            </a:r>
            <a:endParaRPr lang="en-US" altLang="en-US"/>
          </a:p>
          <a:p>
            <a:r>
              <a:rPr lang="en-US" altLang="en-US"/>
              <a:t>Optimize operations: Efficiently managing inventory, accounts receivable, and accounts payable to reduce waste and improve efficiency. </a:t>
            </a:r>
            <a:endParaRPr lang="en-US" altLang="en-US"/>
          </a:p>
          <a:p>
            <a:r>
              <a:rPr lang="en-US" altLang="en-US"/>
              <a:t>Maximize profitability: Ensuring that capital is not tied up unnecessarily in current assets and that the return on investments is maximized. </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How it works</a:t>
            </a:r>
            <a:endParaRPr lang="en-US" altLang="en-US"/>
          </a:p>
        </p:txBody>
      </p:sp>
      <p:sp>
        <p:nvSpPr>
          <p:cNvPr id="3" name="Content Placeholder 2"/>
          <p:cNvSpPr>
            <a:spLocks noGrp="1"/>
          </p:cNvSpPr>
          <p:nvPr>
            <p:ph idx="1"/>
          </p:nvPr>
        </p:nvSpPr>
        <p:spPr/>
        <p:txBody>
          <a:bodyPr>
            <a:normAutofit fontScale="70000"/>
          </a:bodyPr>
          <a:p>
            <a:r>
              <a:rPr lang="en-US" altLang="en-US"/>
              <a:t>The cash conversion cycle: Working capital management focuses on keeping this cycle moving by efficiently converting inventory into cash through sales and subsequent collection from customers, and managing payment timelines to suppliers. </a:t>
            </a:r>
            <a:endParaRPr lang="en-US" altLang="en-US"/>
          </a:p>
          <a:p>
            <a:r>
              <a:rPr lang="en-US" altLang="en-US"/>
              <a:t>Financial health: By optimizing this cycle, companies can meet their obligations, avoid costly borrowing, and have more cash available for growth opportunities. </a:t>
            </a:r>
            <a:endParaRPr lang="en-US" altLang="en-US"/>
          </a:p>
          <a:p>
            <a:r>
              <a:rPr lang="en-US" altLang="en-US"/>
              <a:t>Risk and return: There is a trade-off between liquidity and profitability. For example, holding too much cash (high liquidity) can be inefficient, while too little can be risky. The goal is to find the right balance. </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Application of machine learning models for cash flow forecasting</a:t>
            </a:r>
            <a:endParaRPr lang="en-US" altLang="en-US"/>
          </a:p>
        </p:txBody>
      </p:sp>
      <p:sp>
        <p:nvSpPr>
          <p:cNvPr id="3" name="Content Placeholder 2"/>
          <p:cNvSpPr>
            <a:spLocks noGrp="1"/>
          </p:cNvSpPr>
          <p:nvPr>
            <p:ph idx="1"/>
          </p:nvPr>
        </p:nvSpPr>
        <p:spPr/>
        <p:txBody>
          <a:bodyPr/>
          <a:p>
            <a:r>
              <a:rPr lang="en-US" altLang="en-US"/>
              <a:t>Machine learning (ML) models are revolutionizing cash flow forecasting by moving beyond traditional spreadsheet-based methods that are prone to manual error and bias. ML algorithms analyze vast, complex datasets to identify hidden patterns, trends, and seasonal variations, resulting in more accurate and efficient predictions. </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Benefits of using ML for cash flow forecasting</a:t>
            </a:r>
            <a:br>
              <a:rPr lang="en-US" altLang="en-US"/>
            </a:br>
            <a:endParaRPr lang="en-US" altLang="en-US"/>
          </a:p>
        </p:txBody>
      </p:sp>
      <p:sp>
        <p:nvSpPr>
          <p:cNvPr id="3" name="Content Placeholder 2"/>
          <p:cNvSpPr>
            <a:spLocks noGrp="1"/>
          </p:cNvSpPr>
          <p:nvPr>
            <p:ph idx="1"/>
          </p:nvPr>
        </p:nvSpPr>
        <p:spPr/>
        <p:txBody>
          <a:bodyPr>
            <a:normAutofit fontScale="70000"/>
          </a:bodyPr>
          <a:p>
            <a:r>
              <a:rPr lang="en-US" altLang="en-US"/>
              <a:t>Implementing ML models for cash flow forecasting can provide significant improvements for a business's financial planning. </a:t>
            </a:r>
            <a:endParaRPr lang="en-US" altLang="en-US"/>
          </a:p>
          <a:p>
            <a:r>
              <a:rPr lang="en-US" altLang="en-US"/>
              <a:t>Increased accuracy: By analyzing vast and complex financial datasets, ML models can identify non-obvious patterns that traditional methods might miss. This leads to more precise forecasts and better-informed financial decisions. Some case studies have shown a reduction in error rates of up to 50% compared to traditional approaches.</a:t>
            </a:r>
            <a:endParaRPr lang="en-US" altLang="en-US"/>
          </a:p>
          <a:p>
            <a:r>
              <a:rPr lang="en-US" altLang="en-US"/>
              <a:t>Dynamic adaptability: ML models can quickly adapt to changing market conditions and economic shifts by continuously learning from new data. This provides more reliable and up-to-date insights than static historical analyses.</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60000"/>
          </a:bodyPr>
          <a:p>
            <a:r>
              <a:rPr lang="en-US" altLang="en-US"/>
              <a:t>Enhanced scenario analysis: With ML, finance teams can rapidly simulate thousands of "what-if" scenarios by adjusting various internal and external factors, such as interest rates or sales volumes. This allows for more robust stress testing and risk mitigation planning.</a:t>
            </a:r>
            <a:endParaRPr lang="en-US" altLang="en-US"/>
          </a:p>
          <a:p>
            <a:r>
              <a:rPr lang="en-US" altLang="en-US"/>
              <a:t>Real-time integration and automation: ML-powered systems can automatically aggregate and process real-time data from various sources like Enterprise Resource Planning (ERP) and Customer Relationship Management (CRM) systems. This saves time and frees financial teams from tedious, manual tasks, allowing them to focus on more strategic analysis.</a:t>
            </a:r>
            <a:endParaRPr lang="en-US" altLang="en-US"/>
          </a:p>
          <a:p>
            <a:r>
              <a:rPr lang="en-US" altLang="en-US"/>
              <a:t>Anomaly detection: ML models are highly effective at spotting unusual transactions or deviations from expected cash flow patterns. Early detection of these anomalies helps businesses investigate and take corrective action before issues escalate. </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Machine learning techniques for cash flow forecasting</a:t>
            </a:r>
            <a:endParaRPr lang="en-US" altLang="en-US"/>
          </a:p>
        </p:txBody>
      </p:sp>
      <p:sp>
        <p:nvSpPr>
          <p:cNvPr id="3" name="Content Placeholder 2"/>
          <p:cNvSpPr>
            <a:spLocks noGrp="1"/>
          </p:cNvSpPr>
          <p:nvPr>
            <p:ph idx="1"/>
          </p:nvPr>
        </p:nvSpPr>
        <p:spPr/>
        <p:txBody>
          <a:bodyPr/>
          <a:p>
            <a:r>
              <a:rPr lang="en-US" altLang="en-US"/>
              <a:t>Long Short-Term Memory (LSTM) Networks: A type of recurrent neural network (RNN) that excels at processing sequential data, making it ideal for financial forecasting that involves time-dependent patterns. LSTMs are effective at learning long-term dependencies in data.</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ltLang="en-US"/>
              <a:t>Deep learning models</a:t>
            </a:r>
            <a:endParaRPr lang="en-US" altLang="en-US"/>
          </a:p>
          <a:p>
            <a:r>
              <a:rPr lang="en-US" altLang="en-US"/>
              <a:t>Long Short-Term Memory (LSTM) Neural Networks: A type of recurrent neural network (RNN) that excels at capturing long-term dependencies in sequential data, making it very powerful for cash flow forecasting. </a:t>
            </a:r>
            <a:endParaRPr lang="en-US" altLang="en-US"/>
          </a:p>
          <a:p>
            <a:r>
              <a:rPr lang="en-US" altLang="en-US"/>
              <a:t>Neural Networks: A broad category that includes LSTMs, used to analyze vast datasets and find complex patterns that might be missed by human analysts. </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Other models and techniques</a:t>
            </a:r>
            <a:endParaRPr lang="en-US" altLang="en-US"/>
          </a:p>
        </p:txBody>
      </p:sp>
      <p:sp>
        <p:nvSpPr>
          <p:cNvPr id="3" name="Content Placeholder 2"/>
          <p:cNvSpPr>
            <a:spLocks noGrp="1"/>
          </p:cNvSpPr>
          <p:nvPr>
            <p:ph idx="1"/>
          </p:nvPr>
        </p:nvSpPr>
        <p:spPr/>
        <p:txBody>
          <a:bodyPr>
            <a:normAutofit lnSpcReduction="10000"/>
          </a:bodyPr>
          <a:p>
            <a:r>
              <a:rPr lang="en-US" altLang="en-US"/>
              <a:t>Regression Models: A standard statistical approach that can be adapted for forecasting. </a:t>
            </a:r>
            <a:endParaRPr lang="en-US" altLang="en-US"/>
          </a:p>
          <a:p>
            <a:r>
              <a:rPr lang="en-US" altLang="en-US"/>
              <a:t>Random Forests: An ensemble learning method that builds multiple decision trees and combines their results to improve accuracy and robustness. </a:t>
            </a:r>
            <a:endParaRPr lang="en-US" altLang="en-US"/>
          </a:p>
          <a:p>
            <a:r>
              <a:rPr lang="en-US" altLang="en-US"/>
              <a:t>Ensemble Models: Combine multiple different models to improve overall predictive accuracy, leveraging the strengths of each.</a:t>
            </a: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How they are applied</a:t>
            </a:r>
            <a:endParaRPr lang="en-US" altLang="en-US"/>
          </a:p>
        </p:txBody>
      </p:sp>
      <p:sp>
        <p:nvSpPr>
          <p:cNvPr id="3" name="Content Placeholder 2"/>
          <p:cNvSpPr>
            <a:spLocks noGrp="1"/>
          </p:cNvSpPr>
          <p:nvPr>
            <p:ph idx="1"/>
          </p:nvPr>
        </p:nvSpPr>
        <p:spPr/>
        <p:txBody>
          <a:bodyPr>
            <a:normAutofit fontScale="80000"/>
          </a:bodyPr>
          <a:p>
            <a:r>
              <a:rPr lang="en-US" altLang="en-US"/>
              <a:t>Data Training: Models are trained on historical cash flow data, often using at least two years of past data to build the model and forecast the third year's actuals. </a:t>
            </a:r>
            <a:endParaRPr lang="en-US" altLang="en-US"/>
          </a:p>
          <a:p>
            <a:r>
              <a:rPr lang="en-US" altLang="en-US"/>
              <a:t>Anomaly Detection: ML models are effective at identifying anomalies or deviations from typical patterns, which can signal potential issues or opportunities. </a:t>
            </a:r>
            <a:endParaRPr lang="en-US" altLang="en-US"/>
          </a:p>
          <a:p>
            <a:r>
              <a:rPr lang="en-US" altLang="en-US"/>
              <a:t>Real-Time Processing: Integrating ML with real-time data from systems like ERPs and banking platforms allows for continuous refinement of forecasts. </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US" altLang="en-US"/>
              <a:t>Long Short-Term Memory (LSTM) neural networks are a powerful and effective deep learning method for cash flow forecasting because they are specifically designed to learn and remember long-term dependencies in sequential data like financial time series. LSTMs overcome the limitations of traditional models, which often struggle to capture the complex, non-linear relationships present in financial markets. </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Why LSTMs are effective for cash flow forecasting</a:t>
            </a:r>
            <a:endParaRPr lang="en-US" altLang="en-US"/>
          </a:p>
        </p:txBody>
      </p:sp>
      <p:sp>
        <p:nvSpPr>
          <p:cNvPr id="3" name="Content Placeholder 2"/>
          <p:cNvSpPr>
            <a:spLocks noGrp="1"/>
          </p:cNvSpPr>
          <p:nvPr>
            <p:ph idx="1"/>
          </p:nvPr>
        </p:nvSpPr>
        <p:spPr/>
        <p:txBody>
          <a:bodyPr>
            <a:normAutofit fontScale="70000"/>
          </a:bodyPr>
          <a:p>
            <a:r>
              <a:rPr lang="en-US" altLang="en-US"/>
              <a:t>Capture complex patterns: Financial data is often chaotic, with subtle, non-linear patterns that traditional models  may miss. The structure of an LSTM, which includes memory cells and gates, enables it to identify and learn these intricate relationships effectively.</a:t>
            </a:r>
            <a:endParaRPr lang="en-US" altLang="en-US"/>
          </a:p>
          <a:p>
            <a:r>
              <a:rPr lang="en-US" altLang="en-US"/>
              <a:t>Learn long-term dependencies: Traditional recurrent neural networks (RNNs) suffer from the "vanishing gradient problem," where they lose the ability to learn from data points far back in the sequence. LSTMs address this with a memory cell that can retain important information over long sequences, which is crucial for forecasting cash flows affected by long-term trends and cyclical events.</a:t>
            </a: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r>
              <a:rPr lang="en-US" altLang="en-US"/>
              <a:t>Incorporate influencing factors: Beyond just historical cash flow, LSTMs can integrate multiple data points, such as macroeconomic indicators, seasonality (e.g., holidays), and customer behavior patterns, to create more accurate forecasts.</a:t>
            </a:r>
            <a:endParaRPr lang="en-US" altLang="en-US"/>
          </a:p>
          <a:p>
            <a:r>
              <a:rPr lang="en-US" altLang="en-US"/>
              <a:t>Perform well with noisy data: Financial data is often noisy, meaning it contains random fluctuations. LSTMs have been shown to handle noisy, non-stationary financial data better than many traditional methods.</a:t>
            </a:r>
            <a:endParaRPr lang="en-US" altLang="en-US"/>
          </a:p>
          <a:p>
            <a:r>
              <a:rPr lang="en-US" altLang="en-US"/>
              <a:t>Higher accuracy: Studies comparing LSTMs to traditional models for financial forecasting have found that LSTM models often achieve lower prediction errors. One study showed LSTM models reducing errors by 84% to 87% when compared to other traditional models. </a:t>
            </a: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How to build and apply an LSTM model for cash flow forecasting</a:t>
            </a:r>
            <a:endParaRPr lang="en-US" altLang="en-US"/>
          </a:p>
        </p:txBody>
      </p:sp>
      <p:sp>
        <p:nvSpPr>
          <p:cNvPr id="3" name="Content Placeholder 2"/>
          <p:cNvSpPr>
            <a:spLocks noGrp="1"/>
          </p:cNvSpPr>
          <p:nvPr>
            <p:ph idx="1"/>
          </p:nvPr>
        </p:nvSpPr>
        <p:spPr/>
        <p:txBody>
          <a:bodyPr>
            <a:normAutofit fontScale="60000"/>
          </a:bodyPr>
          <a:p>
            <a:r>
              <a:rPr lang="en-US" altLang="en-US"/>
              <a:t>Data collection: Gather historical financial data, including revenues, expenses, and net cash flow. Incorporate relevant external data, such as economic indicators, market trends, and any special events like holidays or fiscal quarters.</a:t>
            </a:r>
            <a:endParaRPr lang="en-US" altLang="en-US"/>
          </a:p>
          <a:p>
            <a:r>
              <a:rPr lang="en-US" altLang="en-US"/>
              <a:t>Data preprocessing:</a:t>
            </a:r>
            <a:endParaRPr lang="en-US" altLang="en-US"/>
          </a:p>
          <a:p>
            <a:r>
              <a:rPr lang="en-US" altLang="en-US"/>
              <a:t>Scale the data: Normalize the data using a technique like MinMaxScaler to ensure all features are on a similar scale, which leads to more stable training.</a:t>
            </a:r>
            <a:endParaRPr lang="en-US" altLang="en-US"/>
          </a:p>
          <a:p>
            <a:r>
              <a:rPr lang="en-US" altLang="en-US"/>
              <a:t>Create sequences: Transform the time series into sequences of data (input/output pairs) that the LSTM model can learn from. For example, using the past 30 days of data to predict the cash flow for the next day.</a:t>
            </a:r>
            <a:endParaRPr lang="en-US" altLang="en-US"/>
          </a:p>
          <a:p>
            <a:r>
              <a:rPr lang="en-US" altLang="en-US"/>
              <a:t>Handle outliers: Financial data may contain outliers from unusual events. These can be identified and removed or handled appropriately.</a:t>
            </a:r>
            <a:endParaRPr lang="en-US" altLang="en-US"/>
          </a:p>
          <a:p>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ltLang="en-US"/>
              <a:t>Model architecture: Design the LSTM network with layers appropriate for the complexity of the data. A typical architecture might include:</a:t>
            </a:r>
            <a:endParaRPr lang="en-US" altLang="en-US"/>
          </a:p>
          <a:p>
            <a:r>
              <a:rPr lang="en-US" altLang="en-US"/>
              <a:t>Multiple LSTM layers to capture complex patterns.</a:t>
            </a:r>
            <a:endParaRPr lang="en-US" altLang="en-US"/>
          </a:p>
          <a:p>
            <a:r>
              <a:rPr lang="en-US" altLang="en-US"/>
              <a:t>Dense layers at the end to produce the final forecast</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80000"/>
          </a:bodyPr>
          <a:p>
            <a:r>
              <a:rPr lang="en-US" altLang="en-US"/>
              <a:t>Training and evaluation:</a:t>
            </a:r>
            <a:endParaRPr lang="en-US" altLang="en-US"/>
          </a:p>
          <a:p>
            <a:r>
              <a:rPr lang="en-US" altLang="en-US"/>
              <a:t>Split the dataset into training, validation, and test sets.</a:t>
            </a:r>
            <a:endParaRPr lang="en-US" altLang="en-US"/>
          </a:p>
          <a:p>
            <a:r>
              <a:rPr lang="en-US" altLang="en-US"/>
              <a:t>Train the model using an optimizer (like Adam) and a loss function (like Mean Squared Error)to make it more accurate.</a:t>
            </a:r>
            <a:endParaRPr lang="en-US" altLang="en-US"/>
          </a:p>
          <a:p>
            <a:r>
              <a:rPr lang="en-US" altLang="en-US"/>
              <a:t>Use the validation set for hyperparameter tuning and techniques like early stopping to prevent overfitting.</a:t>
            </a:r>
            <a:endParaRPr lang="en-US" altLang="en-US"/>
          </a:p>
          <a:p>
            <a:r>
              <a:rPr lang="en-US" altLang="en-US"/>
              <a:t>Evaluate the final model's performance on the unseen test set using metrics like Mean Absolute Error (MAE) or Root Mean Squared Error (RMSE).</a:t>
            </a:r>
            <a:endParaRPr lang="en-US" altLang="en-US"/>
          </a:p>
          <a:p>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Deployment and refinement:</a:t>
            </a:r>
            <a:endParaRPr lang="en-US" altLang="en-US"/>
          </a:p>
          <a:p>
            <a:r>
              <a:rPr lang="en-US" altLang="en-US"/>
              <a:t>Deploy the final model to generate cash flow forecasts.</a:t>
            </a:r>
            <a:endParaRPr lang="en-US" altLang="en-US"/>
          </a:p>
          <a:p>
            <a:r>
              <a:rPr lang="en-US" altLang="en-US"/>
              <a:t>Implement a feedback loop to continuously update and retrain the model with new data. This ensures it adapts to changing market conditions and economic trends. </a:t>
            </a:r>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r>
              <a:rPr lang="en-US" altLang="en-US"/>
              <a:t>Potential drawbacks</a:t>
            </a:r>
            <a:endParaRPr lang="en-US" altLang="en-US"/>
          </a:p>
          <a:p>
            <a:r>
              <a:rPr lang="en-US" altLang="en-US"/>
              <a:t>While powerful, LSTMs have some drawbacks, such as:</a:t>
            </a:r>
            <a:endParaRPr lang="en-US" altLang="en-US"/>
          </a:p>
          <a:p>
            <a:r>
              <a:rPr lang="en-US" altLang="en-US"/>
              <a:t>High data requirement: LSTMs often need a large amount of historical data to train effectively.</a:t>
            </a:r>
            <a:endParaRPr lang="en-US" altLang="en-US"/>
          </a:p>
          <a:p>
            <a:r>
              <a:rPr lang="en-US" altLang="en-US"/>
              <a:t>Computationally intensive: Training can be resource-intensive and time-consuming, especially for large datasets.</a:t>
            </a:r>
            <a:endParaRPr lang="en-US" altLang="en-US"/>
          </a:p>
          <a:p>
            <a:r>
              <a:rPr lang="en-US" altLang="en-US"/>
              <a:t>Complexity: Building and tuning LSTM models requires significant expertise in deep learning.</a:t>
            </a:r>
            <a:endParaRPr lang="en-US" altLang="en-US"/>
          </a:p>
          <a:p>
            <a:r>
              <a:rPr lang="en-US" altLang="en-US"/>
              <a:t>Limited insight: Like many deep learning models, LSTMs can be considered "black boxes," offering less interpretability than traditional models. </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Neural Networks</a:t>
            </a:r>
            <a:endParaRPr lang="en-US" altLang="en-US"/>
          </a:p>
        </p:txBody>
      </p:sp>
      <p:sp>
        <p:nvSpPr>
          <p:cNvPr id="3" name="Content Placeholder 2"/>
          <p:cNvSpPr>
            <a:spLocks noGrp="1"/>
          </p:cNvSpPr>
          <p:nvPr>
            <p:ph idx="1"/>
          </p:nvPr>
        </p:nvSpPr>
        <p:spPr/>
        <p:txBody>
          <a:bodyPr/>
          <a:p>
            <a:r>
              <a:rPr lang="en-US" altLang="en-US"/>
              <a:t>Neural networks are used for cash flow forecasting by mapping relationships between various factors and actual cash flow, and can be enhanced with deep learning techniques for improved accuracy. This involves a multi-step process: preprocessing data, creating the network architecture, training the model on historical data, and then evaluating its performance to generate forecasts. </a:t>
            </a: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How it works</a:t>
            </a:r>
            <a:endParaRPr lang="en-US" altLang="en-US"/>
          </a:p>
        </p:txBody>
      </p:sp>
      <p:sp>
        <p:nvSpPr>
          <p:cNvPr id="3" name="Content Placeholder 2"/>
          <p:cNvSpPr>
            <a:spLocks noGrp="1"/>
          </p:cNvSpPr>
          <p:nvPr>
            <p:ph idx="1"/>
          </p:nvPr>
        </p:nvSpPr>
        <p:spPr/>
        <p:txBody>
          <a:bodyPr>
            <a:normAutofit fontScale="90000" lnSpcReduction="10000"/>
          </a:bodyPr>
          <a:p>
            <a:r>
              <a:rPr lang="en-US" altLang="en-US"/>
              <a:t>Input and Output: The neural network takes various factors (e.g., historical sales, expenses, customer payment behavior) as input to predict future cash flow (the output). </a:t>
            </a:r>
            <a:endParaRPr lang="en-US" altLang="en-US"/>
          </a:p>
          <a:p>
            <a:r>
              <a:rPr lang="en-US" altLang="en-US"/>
              <a:t>Mapping Relationships: The network learns the complex, non-linear relationships between these input factors and the actual cash flow over time. </a:t>
            </a:r>
            <a:endParaRPr lang="en-US" altLang="en-US"/>
          </a:p>
          <a:p>
            <a:r>
              <a:rPr lang="en-US" altLang="en-US"/>
              <a:t>Forecasting: Once trained, the model can use new input data to forecast future cash flow with greater accuracy than traditional methods</a:t>
            </a: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Key steps in building a model</a:t>
            </a:r>
            <a:endParaRPr lang="en-US" altLang="en-US"/>
          </a:p>
        </p:txBody>
      </p:sp>
      <p:sp>
        <p:nvSpPr>
          <p:cNvPr id="3" name="Content Placeholder 2"/>
          <p:cNvSpPr>
            <a:spLocks noGrp="1"/>
          </p:cNvSpPr>
          <p:nvPr>
            <p:ph idx="1"/>
          </p:nvPr>
        </p:nvSpPr>
        <p:spPr/>
        <p:txBody>
          <a:bodyPr>
            <a:normAutofit fontScale="90000" lnSpcReduction="10000"/>
          </a:bodyPr>
          <a:p>
            <a:r>
              <a:rPr lang="en-US" altLang="en-US"/>
              <a:t>Data Preprocessing: Clean and format historical cash flow data, and engineer relevant features to be used as inputs. </a:t>
            </a:r>
            <a:endParaRPr lang="en-US" altLang="en-US"/>
          </a:p>
          <a:p>
            <a:r>
              <a:rPr lang="en-US" altLang="en-US"/>
              <a:t>Model Architecture: Design the neural network architecture. Deep neural networks (DNNs) can be used for more advanced forecasting. </a:t>
            </a:r>
            <a:endParaRPr lang="en-US" altLang="en-US"/>
          </a:p>
          <a:p>
            <a:r>
              <a:rPr lang="en-US" altLang="en-US"/>
              <a:t>Training and Validation: Train the model on a portion of the historical data and validate its performance on a separate set to tune hyperparameters and prevent overfitting. </a:t>
            </a:r>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Evaluation: Test the final model on an unseen dataset to evaluate its accuracy, often using metrics like percentage errors. </a:t>
            </a:r>
            <a:endParaRPr lang="en-US" altLang="en-US"/>
          </a:p>
          <a:p>
            <a:r>
              <a:rPr lang="en-US" altLang="en-US"/>
              <a:t>Deployment: Deploy the trained model to generate forecasts using new, real-time data. </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Advantages of using neural networks</a:t>
            </a:r>
            <a:endParaRPr lang="en-US" altLang="en-US"/>
          </a:p>
        </p:txBody>
      </p:sp>
      <p:sp>
        <p:nvSpPr>
          <p:cNvPr id="3" name="Content Placeholder 2"/>
          <p:cNvSpPr>
            <a:spLocks noGrp="1"/>
          </p:cNvSpPr>
          <p:nvPr>
            <p:ph idx="1"/>
          </p:nvPr>
        </p:nvSpPr>
        <p:spPr/>
        <p:txBody>
          <a:bodyPr>
            <a:normAutofit lnSpcReduction="20000"/>
          </a:bodyPr>
          <a:p>
            <a:r>
              <a:rPr lang="en-US" altLang="en-US"/>
              <a:t>Accuracy: Neural networks can often achieve higher accuracy than traditional statistical methods because they can capture complex, non-linear patterns in the data. </a:t>
            </a:r>
            <a:endParaRPr lang="en-US" altLang="en-US"/>
          </a:p>
          <a:p>
            <a:r>
              <a:rPr lang="en-US" altLang="en-US"/>
              <a:t>Adaptability: They can learn and adapt to changing market conditions, unlike static forecasting models. </a:t>
            </a:r>
            <a:endParaRPr lang="en-US" altLang="en-US"/>
          </a:p>
          <a:p>
            <a:r>
              <a:rPr lang="en-US" altLang="en-US"/>
              <a:t>Comprehensive Analysis: They can incorporate a wide range of variables, from sales data to market trends, for a more holistic forecast. </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Potential challenges</a:t>
            </a:r>
            <a:endParaRPr lang="en-US" altLang="en-US"/>
          </a:p>
        </p:txBody>
      </p:sp>
      <p:sp>
        <p:nvSpPr>
          <p:cNvPr id="3" name="Content Placeholder 2"/>
          <p:cNvSpPr>
            <a:spLocks noGrp="1"/>
          </p:cNvSpPr>
          <p:nvPr>
            <p:ph idx="1"/>
          </p:nvPr>
        </p:nvSpPr>
        <p:spPr/>
        <p:txBody>
          <a:bodyPr>
            <a:normAutofit fontScale="90000" lnSpcReduction="10000"/>
          </a:bodyPr>
          <a:p>
            <a:r>
              <a:rPr lang="en-US" altLang="en-US"/>
              <a:t>Complexity: Building and training a neural network can be complex and requires specialized knowledge in data science and machine learning.</a:t>
            </a:r>
            <a:endParaRPr lang="en-US" altLang="en-US"/>
          </a:p>
          <a:p>
            <a:r>
              <a:rPr lang="en-US" altLang="en-US"/>
              <a:t>Data Requirements: Neural networks need a significant amount of high-quality historical data to be effective.</a:t>
            </a:r>
            <a:endParaRPr lang="en-US" altLang="en-US"/>
          </a:p>
          <a:p>
            <a:r>
              <a:rPr lang="en-US" altLang="en-US"/>
              <a:t>Interpretability: It can be challenging to understand exactly "why" a neural network made a specific forecast, which can be an issue in a field that requires explainable decisions. </a:t>
            </a: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Financial decision making Prophet</a:t>
            </a:r>
            <a:endParaRPr lang="en-US"/>
          </a:p>
        </p:txBody>
      </p:sp>
      <p:sp>
        <p:nvSpPr>
          <p:cNvPr id="3" name="Content Placeholder 2"/>
          <p:cNvSpPr>
            <a:spLocks noGrp="1"/>
          </p:cNvSpPr>
          <p:nvPr>
            <p:ph idx="1"/>
          </p:nvPr>
        </p:nvSpPr>
        <p:spPr/>
        <p:txBody>
          <a:bodyPr>
            <a:normAutofit fontScale="90000" lnSpcReduction="20000"/>
          </a:bodyPr>
          <a:p>
            <a:r>
              <a:rPr lang="en-US" altLang="en-US"/>
              <a:t>Prophet is an effective and user-friendly machine learning model for cash flow forecasting, but it is not the only option. Several alternative and complementary models exist, including traditional statistical methods and more complex deep learning techniques, that can offer enhanced accuracy depending on the data's complexity. </a:t>
            </a:r>
            <a:endParaRPr lang="en-US" altLang="en-US"/>
          </a:p>
          <a:p>
            <a:r>
              <a:rPr lang="en-US" altLang="en-US"/>
              <a:t>Prophet for cash flow forecasting</a:t>
            </a:r>
            <a:endParaRPr lang="en-US" altLang="en-US"/>
          </a:p>
          <a:p>
            <a:r>
              <a:rPr lang="en-US" altLang="en-US"/>
              <a:t>Prophet, an open-source library from Meta, uses a decomposable time series model with three main components: trend, seasonality, and holidays. </a:t>
            </a: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Strengths:</a:t>
            </a:r>
            <a:endParaRPr lang="en-US" altLang="en-US"/>
          </a:p>
        </p:txBody>
      </p:sp>
      <p:sp>
        <p:nvSpPr>
          <p:cNvPr id="3" name="Content Placeholder 2"/>
          <p:cNvSpPr>
            <a:spLocks noGrp="1"/>
          </p:cNvSpPr>
          <p:nvPr>
            <p:ph idx="1"/>
          </p:nvPr>
        </p:nvSpPr>
        <p:spPr/>
        <p:txBody>
          <a:bodyPr>
            <a:normAutofit fontScale="70000"/>
          </a:bodyPr>
          <a:p>
            <a:r>
              <a:rPr lang="en-US" altLang="en-US"/>
              <a:t>Intuitive: Its additive model is easily interpretable, allowing users to understand the drivers of their forecasts.</a:t>
            </a:r>
            <a:endParaRPr lang="en-US" altLang="en-US"/>
          </a:p>
          <a:p>
            <a:r>
              <a:rPr lang="en-US" altLang="en-US"/>
              <a:t>Robust: It effectively handles missing data and outliers, which are common in real-world financial records.</a:t>
            </a:r>
            <a:endParaRPr lang="en-US" altLang="en-US"/>
          </a:p>
          <a:p>
            <a:r>
              <a:rPr lang="en-US" altLang="en-US"/>
              <a:t>Automatic: It provides sensible forecasts with minimal manual effort, making it highly accessible for non-experts.</a:t>
            </a:r>
            <a:endParaRPr lang="en-US" altLang="en-US"/>
          </a:p>
          <a:p>
            <a:r>
              <a:rPr lang="en-US" altLang="en-US"/>
              <a:t>Customizable: You can incorporate specific, irregular events, such as one-off expenses or holidays, by adding a custom holidays dataframe.</a:t>
            </a:r>
            <a:endParaRPr lang="en-US" altLang="en-US"/>
          </a:p>
          <a:p>
            <a:r>
              <a:rPr lang="en-US" altLang="en-US"/>
              <a:t>Proven success: A research study on construction project cash flow found Prophet was highly accurate and significantly faster than traditional methods. </a:t>
            </a:r>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Machine learning models for cash flow forecasting using xgboost</a:t>
            </a:r>
            <a:endParaRPr lang="en-US" altLang="en-US"/>
          </a:p>
        </p:txBody>
      </p:sp>
      <p:sp>
        <p:nvSpPr>
          <p:cNvPr id="3" name="Content Placeholder 2"/>
          <p:cNvSpPr>
            <a:spLocks noGrp="1"/>
          </p:cNvSpPr>
          <p:nvPr>
            <p:ph idx="1"/>
          </p:nvPr>
        </p:nvSpPr>
        <p:spPr/>
        <p:txBody>
          <a:bodyPr/>
          <a:p>
            <a:r>
              <a:rPr lang="en-US" altLang="en-US"/>
              <a:t>An XGBoost model for cash flow forecasting works by structuring the time-series problem as a regression task and creating numerous features from historical financial data. While XGBoost is effective at capturing complex patterns, it must be adapted to account for the unique temporal aspects of cash flow data. </a:t>
            </a:r>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Transform time series data: XGBoost cannot directly handle time-indexed data. You must transform the cash flow data into a supervised learning format with input features (\(X\)) and a target variable (\(y\)). The target is the cash flow value to be predicted at a future time step.</a:t>
            </a: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80000"/>
          </a:bodyPr>
          <a:p>
            <a:r>
              <a:rPr lang="en-US" altLang="en-US"/>
              <a:t>Feature engineering: This is the most critical step and involves generating features from your historical cash flow data and external sources.</a:t>
            </a:r>
            <a:endParaRPr lang="en-US" altLang="en-US"/>
          </a:p>
          <a:p>
            <a:r>
              <a:rPr lang="en-US" altLang="en-US"/>
              <a:t>Time-based features: Extract components like the hour, day of the week, day of the month, and quarter to capture daily, weekly, and seasonal patterns.</a:t>
            </a:r>
            <a:endParaRPr lang="en-US" altLang="en-US"/>
          </a:p>
          <a:p>
            <a:r>
              <a:rPr lang="en-US" altLang="en-US"/>
              <a:t>Cyclical features: For recurring time features like the month or day, use sine and cosine transformations to help the model recognize their cyclical nature.</a:t>
            </a:r>
            <a:endParaRPr lang="en-US" altLang="en-US"/>
          </a:p>
          <a:p>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20000"/>
          </a:bodyPr>
          <a:p>
            <a:r>
              <a:rPr lang="en-US" altLang="en-US">
                <a:sym typeface="+mn-ea"/>
              </a:rPr>
              <a:t>Lag features: Include past cash flow values as predictors (e.g., cash flow from the previous day, week, or month) to capture temporal dependencies.</a:t>
            </a:r>
            <a:endParaRPr lang="en-US" altLang="en-US"/>
          </a:p>
          <a:p>
            <a:r>
              <a:rPr lang="en-US" altLang="en-US">
                <a:sym typeface="+mn-ea"/>
              </a:rPr>
              <a:t>Rolling statistics: Create features like the rolling mean or standard deviation over a specified window to highlight trends and reduce noise.</a:t>
            </a:r>
            <a:endParaRPr lang="en-US" altLang="en-US"/>
          </a:p>
          <a:p>
            <a:r>
              <a:rPr lang="en-US" altLang="en-US">
                <a:sym typeface="+mn-ea"/>
              </a:rPr>
              <a:t>External factors: Incorporate features that impact cash flow but aren't present in the time series data itself, such as holidays, marketing campaign starts, or macroeconomic indicators like interest rates.</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ltLang="en-US"/>
              <a:t>Data preprocessing: Clean and prepare your data for the model.</a:t>
            </a:r>
            <a:endParaRPr lang="en-US" altLang="en-US"/>
          </a:p>
          <a:p>
            <a:r>
              <a:rPr lang="en-US" altLang="en-US"/>
              <a:t>Handle missing values: While XGBoost can handle missing values internally, pre-processing with techniques like mean, KNN, or MICE imputation can improve model performance.</a:t>
            </a:r>
            <a:endParaRPr lang="en-US" altLang="en-US"/>
          </a:p>
          <a:p>
            <a:r>
              <a:rPr lang="en-US" altLang="en-US"/>
              <a:t>Encode categorical features: Convert any categorical variables into a numerical format, such as with one-hot encoding.</a:t>
            </a: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10000"/>
          </a:bodyPr>
          <a:p>
            <a:r>
              <a:rPr lang="en-US" altLang="en-US"/>
              <a:t>Training and validation:</a:t>
            </a:r>
            <a:endParaRPr lang="en-US" altLang="en-US"/>
          </a:p>
          <a:p>
            <a:r>
              <a:rPr lang="en-US" altLang="en-US"/>
              <a:t>Use time series cross-validation: Standard cross-validation can cause data leakage. Use a sequential approach like TimeSeriesSplit, which ensures that the model is only trained on historical data relative to its prediction time frame.</a:t>
            </a:r>
            <a:endParaRPr lang="en-US" altLang="en-US"/>
          </a:p>
          <a:p>
            <a:r>
              <a:rPr lang="en-US" altLang="en-US"/>
              <a:t>Employ early stopping: During training, monitor the model's performance on a validation set and stop training when improvement plateaus. This prevents overfitting.</a:t>
            </a:r>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Forecasting:</a:t>
            </a:r>
            <a:endParaRPr lang="en-US" altLang="en-US"/>
          </a:p>
          <a:p>
            <a:r>
              <a:rPr lang="en-US" altLang="en-US"/>
              <a:t>For a one-step forecast, the model uses the prepared feature set to predict the next cash flow value.</a:t>
            </a:r>
            <a:endParaRPr lang="en-US" altLang="en-US"/>
          </a:p>
          <a:p>
            <a:r>
              <a:rPr lang="en-US" altLang="en-US"/>
              <a:t>For multi-step forecasting, the model must be configured to use a recursive or multi-output strategy to predict further into the future. </a:t>
            </a:r>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Advantages and disadvantages of using XGBoost</a:t>
            </a:r>
            <a:endParaRPr lang="en-US" altLang="en-US"/>
          </a:p>
        </p:txBody>
      </p:sp>
      <p:sp>
        <p:nvSpPr>
          <p:cNvPr id="3" name="Content Placeholder 2"/>
          <p:cNvSpPr>
            <a:spLocks noGrp="1"/>
          </p:cNvSpPr>
          <p:nvPr>
            <p:ph idx="1"/>
          </p:nvPr>
        </p:nvSpPr>
        <p:spPr/>
        <p:txBody>
          <a:bodyPr>
            <a:normAutofit fontScale="90000" lnSpcReduction="20000"/>
          </a:bodyPr>
          <a:p>
            <a:r>
              <a:rPr lang="en-US" altLang="en-US"/>
              <a:t>Advantages</a:t>
            </a:r>
            <a:endParaRPr lang="en-US" altLang="en-US"/>
          </a:p>
          <a:p>
            <a:r>
              <a:rPr lang="en-US" altLang="en-US"/>
              <a:t>High accuracy: XGBoost is known for being a powerful, top-performing algorithm that can model complex, non-linear relationships in data.</a:t>
            </a:r>
            <a:endParaRPr lang="en-US" altLang="en-US"/>
          </a:p>
          <a:p>
            <a:r>
              <a:rPr lang="en-US" altLang="en-US"/>
              <a:t>Feature importance: The algorithm can provide feature importance scores, which helps identify the most influential factors affecting cash flow and improves model interpretability.</a:t>
            </a:r>
            <a:endParaRPr lang="en-US" altLang="en-US"/>
          </a:p>
          <a:p>
            <a:r>
              <a:rPr lang="en-US" altLang="en-US"/>
              <a:t>Built-in handling of missing values: XGBoost can handle missing data internally, though further preprocessing may yield better results. </a:t>
            </a:r>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Disadvantages</a:t>
            </a:r>
            <a:br>
              <a:rPr lang="en-US" altLang="en-US"/>
            </a:br>
            <a:endParaRPr lang="en-US" altLang="en-US"/>
          </a:p>
        </p:txBody>
      </p:sp>
      <p:sp>
        <p:nvSpPr>
          <p:cNvPr id="3" name="Content Placeholder 2"/>
          <p:cNvSpPr>
            <a:spLocks noGrp="1"/>
          </p:cNvSpPr>
          <p:nvPr>
            <p:ph idx="1"/>
          </p:nvPr>
        </p:nvSpPr>
        <p:spPr/>
        <p:txBody>
          <a:bodyPr>
            <a:normAutofit fontScale="70000"/>
          </a:bodyPr>
          <a:p>
            <a:r>
              <a:rPr lang="en-US" altLang="en-US"/>
              <a:t>Poor extrapolation: XGBoost and other tree-based models cannot reliably predict cash flow trends that move beyond the range of values present in the training data.</a:t>
            </a:r>
            <a:endParaRPr lang="en-US" altLang="en-US"/>
          </a:p>
          <a:p>
            <a:r>
              <a:rPr lang="en-US" altLang="en-US"/>
              <a:t>Risk of overfitting: If not properly regularized, XGBoost can overfit the training data, leading to poor performance on new data.</a:t>
            </a:r>
            <a:endParaRPr lang="en-US" altLang="en-US"/>
          </a:p>
          <a:p>
            <a:r>
              <a:rPr lang="en-US" altLang="en-US"/>
              <a:t>Feature engineering dependency: The model's performance relies heavily on effective feature engineering, which can be a complex and time-consuming process.</a:t>
            </a:r>
            <a:endParaRPr lang="en-US" altLang="en-US"/>
          </a:p>
          <a:p>
            <a:r>
              <a:rPr lang="en-US" altLang="en-US"/>
              <a:t>Computationally expensive: Training can be resource-intensive, especially for large datasets, and careful hyperparameter tuning is required for optimal performance. </a:t>
            </a:r>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Liquidity planning</a:t>
            </a:r>
            <a:endParaRPr lang="en-US" altLang="en-US"/>
          </a:p>
        </p:txBody>
      </p:sp>
      <p:sp>
        <p:nvSpPr>
          <p:cNvPr id="3" name="Content Placeholder 2"/>
          <p:cNvSpPr>
            <a:spLocks noGrp="1"/>
          </p:cNvSpPr>
          <p:nvPr>
            <p:ph idx="1"/>
          </p:nvPr>
        </p:nvSpPr>
        <p:spPr/>
        <p:txBody>
          <a:bodyPr>
            <a:normAutofit lnSpcReduction="10000"/>
          </a:bodyPr>
          <a:p>
            <a:r>
              <a:rPr lang="en-US" altLang="en-US"/>
              <a:t>Liquidity planning is a financial management process to forecast cash inflows and outflows, ensuring a company has sufficient liquid funds to meet short-term obligations and avoid financial bottlenecks. It involves detailed cash flow analysis to identify potential shortages or excesses, enabling proactive management of working capital, borrowing, and investments to maintain solvency, manage risks, and capture growth opportunities. </a:t>
            </a:r>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r>
              <a:rPr lang="en-US" altLang="en-US"/>
              <a:t>Cash Flow Forecasting: The core of liquidity planning is forecasting future cash inflows (e.g., sales) and outflows (e.g., supplier payments, salaries). </a:t>
            </a:r>
            <a:endParaRPr lang="en-US" altLang="en-US"/>
          </a:p>
          <a:p>
            <a:r>
              <a:rPr lang="en-US" altLang="en-US"/>
              <a:t>Risk Mitigation: It helps identify potential cash deficits to avoid last-minute scrambling for funds and also flags cash surpluses that could be invested for better returns. </a:t>
            </a:r>
            <a:endParaRPr lang="en-US" altLang="en-US"/>
          </a:p>
          <a:p>
            <a:r>
              <a:rPr lang="en-US" altLang="en-US"/>
              <a:t>Working Capital Optimization: By understanding cash positions, companies can optimize working capital, ensuring efficient utilization of funds. </a:t>
            </a:r>
            <a:endParaRPr lang="en-US" altLang="en-US"/>
          </a:p>
          <a:p>
            <a:r>
              <a:rPr lang="en-US" altLang="en-US"/>
              <a:t>Strategic Decision-Making: Liquidity planning provides data to support decisions on borrowing, investments, credit facilities, and the management of the cash conversion cycle. </a:t>
            </a:r>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How it Works</a:t>
            </a:r>
            <a:endParaRPr lang="en-US" altLang="en-US"/>
          </a:p>
        </p:txBody>
      </p:sp>
      <p:sp>
        <p:nvSpPr>
          <p:cNvPr id="3" name="Content Placeholder 2"/>
          <p:cNvSpPr>
            <a:spLocks noGrp="1"/>
          </p:cNvSpPr>
          <p:nvPr>
            <p:ph idx="1"/>
          </p:nvPr>
        </p:nvSpPr>
        <p:spPr>
          <a:xfrm>
            <a:off x="457200" y="1005205"/>
            <a:ext cx="8229600" cy="5121275"/>
          </a:xfrm>
        </p:spPr>
        <p:txBody>
          <a:bodyPr>
            <a:normAutofit fontScale="70000"/>
          </a:bodyPr>
          <a:p>
            <a:r>
              <a:rPr lang="en-US" altLang="en-US"/>
              <a:t>Data Collection: Gather data on all expected cash inflows from various sources and all anticipated cash outflows over a chosen period. </a:t>
            </a:r>
            <a:endParaRPr lang="en-US" altLang="en-US"/>
          </a:p>
          <a:p>
            <a:r>
              <a:rPr lang="en-US" altLang="en-US"/>
              <a:t>Analysis: Analyze this data to understand the company's current and future cash position and identify trends. </a:t>
            </a:r>
            <a:endParaRPr lang="en-US" altLang="en-US"/>
          </a:p>
          <a:p>
            <a:r>
              <a:rPr lang="en-US" altLang="en-US"/>
              <a:t>Forecasting: Use forecasting to predict potential cash shortages or surpluses at different points in time. </a:t>
            </a:r>
            <a:endParaRPr lang="en-US" altLang="en-US"/>
          </a:p>
          <a:p>
            <a:r>
              <a:rPr lang="en-US" altLang="en-US"/>
              <a:t>Action Planning: Develop strategies to address potential issues, such as securing credit lines, optimizing payment terms, or investing excess cash. </a:t>
            </a:r>
            <a:endParaRPr lang="en-US" altLang="en-US"/>
          </a:p>
          <a:p>
            <a:r>
              <a:rPr lang="en-US" altLang="en-US">
                <a:sym typeface="+mn-ea"/>
              </a:rPr>
              <a:t>Monitoring &amp; Adjusting: Continuously monitor cash flow and adjust plans as new information becomes available to ensure ongoing financial stability. </a:t>
            </a:r>
            <a:endParaRPr lang="en-US" altLang="en-US"/>
          </a:p>
          <a:p>
            <a:endParaRPr lang="en-US" altLang="en-US"/>
          </a:p>
          <a:p>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Benefits</a:t>
            </a:r>
            <a:endParaRPr lang="en-US" altLang="en-US"/>
          </a:p>
        </p:txBody>
      </p:sp>
      <p:sp>
        <p:nvSpPr>
          <p:cNvPr id="3" name="Content Placeholder 2"/>
          <p:cNvSpPr>
            <a:spLocks noGrp="1"/>
          </p:cNvSpPr>
          <p:nvPr>
            <p:ph idx="1"/>
          </p:nvPr>
        </p:nvSpPr>
        <p:spPr/>
        <p:txBody>
          <a:bodyPr>
            <a:normAutofit lnSpcReduction="10000"/>
          </a:bodyPr>
          <a:p>
            <a:r>
              <a:rPr lang="en-US" altLang="en-US"/>
              <a:t>Solvency: Ensures the company can meet its financial obligations on time. </a:t>
            </a:r>
            <a:endParaRPr lang="en-US" altLang="en-US"/>
          </a:p>
          <a:p>
            <a:r>
              <a:rPr lang="en-US" altLang="en-US"/>
              <a:t>Efficiency: Optimizes the use of cash and working capital. </a:t>
            </a:r>
            <a:endParaRPr lang="en-US" altLang="en-US"/>
          </a:p>
          <a:p>
            <a:r>
              <a:rPr lang="en-US" altLang="en-US"/>
              <a:t>Risk Management: Proactively identifies and mitigates financial risks. </a:t>
            </a:r>
            <a:endParaRPr lang="en-US" altLang="en-US"/>
          </a:p>
          <a:p>
            <a:r>
              <a:rPr lang="en-US" altLang="en-US"/>
              <a:t>Growth: Frees up resources and avoids bottlenecks, allowing the company to focus on growth opportunities. </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21503</Words>
  <Application>WPS Presentation</Application>
  <PresentationFormat>On-screen Show (4:3)</PresentationFormat>
  <Paragraphs>237</Paragraphs>
  <Slides>46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46</vt:i4>
      </vt:variant>
    </vt:vector>
  </HeadingPairs>
  <TitlesOfParts>
    <vt:vector size="53" baseType="lpstr">
      <vt:lpstr>Arial</vt:lpstr>
      <vt:lpstr>SimSun</vt:lpstr>
      <vt:lpstr>Wingdings</vt:lpstr>
      <vt:lpstr>Calibri</vt:lpstr>
      <vt:lpstr>Microsoft YaHei</vt:lpstr>
      <vt:lpstr>Arial Unicode MS</vt:lpstr>
      <vt:lpstr>Office Theme</vt:lpstr>
      <vt:lpstr>Basic concept of Cash Flow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Objectives</vt:lpstr>
      <vt:lpstr>How it works</vt:lpstr>
      <vt:lpstr>Application of machine learning models for cash flow forecasting</vt:lpstr>
      <vt:lpstr>Benefits of using ML for cash flow forecasting </vt:lpstr>
      <vt:lpstr>PowerPoint 演示文稿</vt:lpstr>
      <vt:lpstr>Machine learning techniques for cash flow forecasting</vt:lpstr>
      <vt:lpstr>PowerPoint 演示文稿</vt:lpstr>
      <vt:lpstr>Other models and techniques</vt:lpstr>
      <vt:lpstr>How they are applied</vt:lpstr>
      <vt:lpstr>PowerPoint 演示文稿</vt:lpstr>
      <vt:lpstr>Why LSTMs are effective for cash flow forecasting</vt:lpstr>
      <vt:lpstr>PowerPoint 演示文稿</vt:lpstr>
      <vt:lpstr>How to build and apply an LSTM model for cash flow forecasting</vt:lpstr>
      <vt:lpstr>PowerPoint 演示文稿</vt:lpstr>
      <vt:lpstr>PowerPoint 演示文稿</vt:lpstr>
      <vt:lpstr>PowerPoint 演示文稿</vt:lpstr>
      <vt:lpstr>PowerPoint 演示文稿</vt:lpstr>
      <vt:lpstr>Neural Networks</vt:lpstr>
      <vt:lpstr>How it works</vt:lpstr>
      <vt:lpstr>Key steps in building a model</vt:lpstr>
      <vt:lpstr>PowerPoint 演示文稿</vt:lpstr>
      <vt:lpstr>Advantages of using neural networks</vt:lpstr>
      <vt:lpstr>Potential challenges</vt:lpstr>
      <vt:lpstr>Financial decision making Prophet</vt:lpstr>
      <vt:lpstr>Strengths:</vt:lpstr>
      <vt:lpstr>Machine learning models for cash flow forecasting using xgboost</vt:lpstr>
      <vt:lpstr>PowerPoint 演示文稿</vt:lpstr>
      <vt:lpstr>PowerPoint 演示文稿</vt:lpstr>
      <vt:lpstr>PowerPoint 演示文稿</vt:lpstr>
      <vt:lpstr>PowerPoint 演示文稿</vt:lpstr>
      <vt:lpstr>PowerPoint 演示文稿</vt:lpstr>
      <vt:lpstr>PowerPoint 演示文稿</vt:lpstr>
      <vt:lpstr>Advantages and disadvantages of using XGBoost</vt:lpstr>
      <vt:lpstr>Disadvantages </vt:lpstr>
      <vt:lpstr>Liquidity planning</vt:lpstr>
      <vt:lpstr>PowerPoint 演示文稿</vt:lpstr>
      <vt:lpstr>How it Works</vt:lpstr>
      <vt:lpstr>Benefits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Clarence Danhof classified entrepreneurs into four groups on the basis of economic development</dc:title>
  <dc:creator>Lenovo</dc:creator>
  <cp:lastModifiedBy>Subhashree</cp:lastModifiedBy>
  <cp:revision>11</cp:revision>
  <dcterms:created xsi:type="dcterms:W3CDTF">2025-07-28T07:22:00Z</dcterms:created>
  <dcterms:modified xsi:type="dcterms:W3CDTF">2025-10-14T12:14:16Z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26A0E6C6FDCD457F99FAB450DD4F8D91_12</vt:lpwstr>
  </property>
  <property fmtid="{D5CDD505-2E9C-101B-9397-08002B2CF9AE}" pid="3" name="KSOProductBuildVer">
    <vt:lpwstr>1033-12.2.0.22549</vt:lpwstr>
  </property>
</Properties>
</file>