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ltLang="en-US"/>
              <a:t>Bootstrapping</a:t>
            </a:r>
            <a:endParaRPr lang="en-US" altLang="en-US"/>
          </a:p>
        </p:txBody>
      </p:sp>
      <p:sp>
        <p:nvSpPr>
          <p:cNvPr id="3" name="Subtitle 2"/>
          <p:cNvSpPr>
            <a:spLocks noGrp="1"/>
          </p:cNvSpPr>
          <p:nvPr>
            <p:ph type="subTitle" idx="1"/>
          </p:nvPr>
        </p:nvSpPr>
        <p:spPr/>
        <p:txBody>
          <a:bodyPr>
            <a:normAutofit fontScale="60000"/>
          </a:bodyPr>
          <a:p>
            <a:r>
              <a:rPr lang="en-US" altLang="en-US"/>
              <a:t>Bootstrapping is a method where entrepreneurs start companies with minimal capital, using personal finances or operating revenues instead of external investments. This approach allows business owners to maintain control but comes with increased financial risks due to limited resources.</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Bootstrapping a company means starting it from scratch with little to no assets.</a:t>
            </a:r>
            <a:endParaRPr lang="en-US" altLang="en-US"/>
          </a:p>
          <a:p>
            <a:r>
              <a:rPr lang="en-US" altLang="en-US"/>
              <a:t>For example, a bootstrapped company may take preorders for its product, thereby using the funds generated from the orders actually to build and deliver the product itself.</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Compared to using venture capital, bootstrapping can be beneficial because the entrepreneur can maintain control over all decisions. </a:t>
            </a:r>
            <a:endParaRPr lang="en-US" altLang="en-US"/>
          </a:p>
          <a:p>
            <a:r>
              <a:rPr lang="en-US" altLang="en-US"/>
              <a:t>However, bootstrapping can increase financial risk for the entrepreneur and may not offer enough investment to grow the company quickly.</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Compared to using venture capital, bootstrapping can be beneficial because the entrepreneur can maintain control over all decisions.</a:t>
            </a:r>
            <a:endParaRPr lang="en-US" altLang="en-US"/>
          </a:p>
          <a:p>
            <a:r>
              <a:rPr lang="en-US" altLang="en-US"/>
              <a:t>Bootstrapping can increase financial risk for the entrepreneur and may not offer enough investment to grow the company quickly.</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Essential Steps to consider Bootstrap</a:t>
            </a:r>
            <a:endParaRPr lang="en-US" altLang="en-US"/>
          </a:p>
        </p:txBody>
      </p:sp>
      <p:sp>
        <p:nvSpPr>
          <p:cNvPr id="3" name="Content Placeholder 2"/>
          <p:cNvSpPr>
            <a:spLocks noGrp="1"/>
          </p:cNvSpPr>
          <p:nvPr>
            <p:ph idx="1"/>
          </p:nvPr>
        </p:nvSpPr>
        <p:spPr/>
        <p:txBody>
          <a:bodyPr>
            <a:normAutofit lnSpcReduction="10000"/>
          </a:bodyPr>
          <a:p>
            <a:r>
              <a:rPr lang="en-US" altLang="en-US"/>
              <a:t>Assess Bootstrapping Strategies Early</a:t>
            </a:r>
            <a:endParaRPr lang="en-US" altLang="en-US"/>
          </a:p>
          <a:p>
            <a:r>
              <a:rPr lang="en-US" altLang="en-US"/>
              <a:t>Before bootstrapping, business owners should assess if it suits their operations. Companies needing high upfront capital might find it unfeasible</a:t>
            </a:r>
            <a:endParaRPr lang="en-US" altLang="en-US"/>
          </a:p>
          <a:p>
            <a:r>
              <a:rPr lang="en-US" altLang="en-US"/>
              <a:t>Some businesses may also have a slower turnaround of inventory, meaning bootstrapped cash may be tied up for a longer period.</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Create a Business Plan</a:t>
            </a:r>
            <a:endParaRPr lang="en-US" altLang="en-US"/>
          </a:p>
        </p:txBody>
      </p:sp>
      <p:sp>
        <p:nvSpPr>
          <p:cNvPr id="3" name="Content Placeholder 2"/>
          <p:cNvSpPr>
            <a:spLocks noGrp="1"/>
          </p:cNvSpPr>
          <p:nvPr>
            <p:ph idx="1"/>
          </p:nvPr>
        </p:nvSpPr>
        <p:spPr/>
        <p:txBody>
          <a:bodyPr>
            <a:normAutofit lnSpcReduction="20000"/>
          </a:bodyPr>
          <a:p>
            <a:r>
              <a:rPr lang="en-US" altLang="en-US"/>
              <a:t>If bootstrapping makes sense, an early step for a business owner is to form a business plan. The business plan should have a budget detailing cash inflows and outflows for the next few years.</a:t>
            </a:r>
            <a:endParaRPr lang="en-US" altLang="en-US"/>
          </a:p>
          <a:p>
            <a:r>
              <a:rPr lang="en-US" altLang="en-US"/>
              <a:t>A critical aspect of the bootstrapping plan is to determine how revenue will be cycled through a company. Initially, operations might rely entirely on bootstrapped cash until customer revenue starts.</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Identify Where Resources Will Come From</a:t>
            </a:r>
            <a:endParaRPr lang="en-US" altLang="en-US"/>
          </a:p>
        </p:txBody>
      </p:sp>
      <p:sp>
        <p:nvSpPr>
          <p:cNvPr id="3" name="Content Placeholder 2"/>
          <p:cNvSpPr>
            <a:spLocks noGrp="1"/>
          </p:cNvSpPr>
          <p:nvPr>
            <p:ph idx="1"/>
          </p:nvPr>
        </p:nvSpPr>
        <p:spPr/>
        <p:txBody>
          <a:bodyPr>
            <a:normAutofit fontScale="90000" lnSpcReduction="20000"/>
          </a:bodyPr>
          <a:p>
            <a:r>
              <a:rPr lang="en-US" altLang="en-US"/>
              <a:t>To bootstrap, an owner needs to decide where resources will come from and what options of bootstrapping they want to pursue. For example, the owner may decide to use their:</a:t>
            </a:r>
            <a:endParaRPr lang="en-US" altLang="en-US"/>
          </a:p>
          <a:p>
            <a:endParaRPr lang="en-US" altLang="en-US"/>
          </a:p>
          <a:p>
            <a:r>
              <a:rPr lang="en-US" altLang="en-US"/>
              <a:t>Own cash</a:t>
            </a:r>
            <a:endParaRPr lang="en-US" altLang="en-US"/>
          </a:p>
          <a:p>
            <a:r>
              <a:rPr lang="en-US" altLang="en-US"/>
              <a:t>A personal line of credit</a:t>
            </a:r>
            <a:endParaRPr lang="en-US" altLang="en-US"/>
          </a:p>
          <a:p>
            <a:r>
              <a:rPr lang="en-US" altLang="en-US"/>
              <a:t>Time to save capital</a:t>
            </a:r>
            <a:endParaRPr lang="en-US" altLang="en-US"/>
          </a:p>
          <a:p>
            <a:r>
              <a:rPr lang="en-US" altLang="en-US"/>
              <a:t>They may also choose to adjust business practices to accommodate the growth period.</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Effective Bootstrapping Strategies for Entrepreneurs</a:t>
            </a:r>
            <a:endParaRPr lang="en-US" altLang="en-US"/>
          </a:p>
        </p:txBody>
      </p:sp>
      <p:sp>
        <p:nvSpPr>
          <p:cNvPr id="3" name="Content Placeholder 2"/>
          <p:cNvSpPr>
            <a:spLocks noGrp="1"/>
          </p:cNvSpPr>
          <p:nvPr>
            <p:ph idx="1"/>
          </p:nvPr>
        </p:nvSpPr>
        <p:spPr/>
        <p:txBody>
          <a:bodyPr>
            <a:normAutofit fontScale="80000"/>
          </a:bodyPr>
          <a:p>
            <a:pPr marL="0" indent="0">
              <a:buNone/>
            </a:pPr>
            <a:r>
              <a:rPr lang="en-US" altLang="en-US"/>
              <a:t>1.Contribute Personal Equity</a:t>
            </a:r>
            <a:endParaRPr lang="en-US" altLang="en-US"/>
          </a:p>
          <a:p>
            <a:r>
              <a:rPr lang="en-US" altLang="en-US"/>
              <a:t>A company often needs upfront capital in the initial stages. One of the most common forms of bootstrapping is for the business founder to contribute personal capital as an initial financial investment into the company.</a:t>
            </a:r>
            <a:endParaRPr lang="en-US" altLang="en-US"/>
          </a:p>
          <a:p>
            <a:pPr marL="0" indent="0">
              <a:buNone/>
            </a:pPr>
            <a:r>
              <a:rPr lang="en-US" altLang="en-US"/>
              <a:t>2.Incur Personal Debt</a:t>
            </a:r>
            <a:endParaRPr lang="en-US" altLang="en-US"/>
          </a:p>
          <a:p>
            <a:pPr marL="0" indent="0">
              <a:buNone/>
            </a:pPr>
            <a:r>
              <a:rPr lang="en-US" altLang="en-US"/>
              <a:t>If an owner or founder doesn't have enough capital on hand, they may decide to take out personal loans to finance the company. </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pPr marL="0" indent="0">
              <a:buNone/>
            </a:pPr>
            <a:r>
              <a:rPr lang="en-US" altLang="en-US">
                <a:sym typeface="+mn-ea"/>
              </a:rPr>
              <a:t>The company likely can't receive a loan (or receive nearly as favorable loan terms) because it does not have the same established financial history as the founder.</a:t>
            </a:r>
            <a:endParaRPr lang="en-US" altLang="en-US">
              <a:sym typeface="+mn-ea"/>
            </a:endParaRPr>
          </a:p>
          <a:p>
            <a:pPr marL="0" indent="0">
              <a:buNone/>
            </a:pPr>
            <a:r>
              <a:rPr lang="en-US"/>
              <a:t>3.</a:t>
            </a:r>
            <a:r>
              <a:rPr lang="en-US" altLang="en-US"/>
              <a:t>Cut/Avoid Costs</a:t>
            </a:r>
            <a:endParaRPr lang="en-US" altLang="en-US"/>
          </a:p>
          <a:p>
            <a:pPr marL="0" indent="0">
              <a:buNone/>
            </a:pPr>
            <a:r>
              <a:rPr lang="en-US" altLang="en-US"/>
              <a:t>The owner may bootstrap during the early days of the company by limiting spending. For example, the owner may personally deliver goods to customers in their local area instead of paying extra for delivery services.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a:bodyPr>
          <a:p>
            <a:pPr marL="0" indent="0">
              <a:buNone/>
            </a:pPr>
            <a:r>
              <a:rPr lang="en-US"/>
              <a:t>4.</a:t>
            </a:r>
            <a:r>
              <a:rPr lang="en-US" altLang="en-US"/>
              <a:t>Form Business Relationships</a:t>
            </a:r>
            <a:endParaRPr lang="en-US" altLang="en-US"/>
          </a:p>
          <a:p>
            <a:pPr marL="0" indent="0">
              <a:buNone/>
            </a:pPr>
            <a:r>
              <a:rPr lang="en-US" altLang="en-US"/>
              <a:t>A company may also decide to pull in third parties or other investors to help with the financing of the operations. </a:t>
            </a:r>
            <a:endParaRPr lang="en-US" altLang="en-US"/>
          </a:p>
          <a:p>
            <a:pPr marL="0" indent="0">
              <a:buNone/>
            </a:pPr>
            <a:r>
              <a:rPr lang="en-US" altLang="en-US"/>
              <a:t>5.Limit Business Operations</a:t>
            </a:r>
            <a:endParaRPr lang="en-US" altLang="en-US"/>
          </a:p>
          <a:p>
            <a:pPr marL="0" indent="0">
              <a:buNone/>
            </a:pPr>
            <a:r>
              <a:rPr lang="en-US" altLang="en-US"/>
              <a:t>Companies often bootstrap by temporarily limiting what the business can do. For instance, it may only:</a:t>
            </a:r>
            <a:endParaRPr lang="en-US" altLang="en-US"/>
          </a:p>
          <a:p>
            <a:pPr marL="0" indent="0">
              <a:buNone/>
            </a:pPr>
            <a:r>
              <a:rPr lang="en-US" altLang="en-US"/>
              <a:t>Manufacture items upon a paid order</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Pros and Cons of Bootstrapping for Entrepreneurs</a:t>
            </a:r>
            <a:endParaRPr lang="en-US" altLang="en-US"/>
          </a:p>
        </p:txBody>
      </p:sp>
      <p:sp>
        <p:nvSpPr>
          <p:cNvPr id="3" name="Content Placeholder 2"/>
          <p:cNvSpPr>
            <a:spLocks noGrp="1"/>
          </p:cNvSpPr>
          <p:nvPr>
            <p:ph idx="1"/>
          </p:nvPr>
        </p:nvSpPr>
        <p:spPr/>
        <p:txBody>
          <a:bodyPr/>
          <a:p>
            <a:r>
              <a:rPr lang="en-US" altLang="en-US"/>
              <a:t>Advantages</a:t>
            </a:r>
            <a:endParaRPr lang="en-US" altLang="en-US"/>
          </a:p>
          <a:p>
            <a:r>
              <a:rPr lang="en-US" altLang="en-US"/>
              <a:t>Bootstrapping often allows an owner to retain control over the company.</a:t>
            </a:r>
            <a:endParaRPr lang="en-US" altLang="en-US"/>
          </a:p>
          <a:p>
            <a:r>
              <a:rPr lang="en-US" altLang="en-US"/>
              <a:t>An owner usually also has a lower barrier of entry into an industry when they bootstrap as an owner may not have all of the capital needed upfront.</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Disadvantages</a:t>
            </a:r>
            <a:endParaRPr lang="en-US" altLang="en-US"/>
          </a:p>
        </p:txBody>
      </p:sp>
      <p:sp>
        <p:nvSpPr>
          <p:cNvPr id="3" name="Content Placeholder 2"/>
          <p:cNvSpPr>
            <a:spLocks noGrp="1"/>
          </p:cNvSpPr>
          <p:nvPr>
            <p:ph idx="1"/>
          </p:nvPr>
        </p:nvSpPr>
        <p:spPr/>
        <p:txBody>
          <a:bodyPr/>
          <a:p>
            <a:r>
              <a:rPr lang="en-US" altLang="en-US"/>
              <a:t> As the company operates with limited resources. This may prohibit how much a company can reinvest into the company as opposed to paying back the owner. </a:t>
            </a:r>
            <a:endParaRPr lang="en-US" altLang="en-US"/>
          </a:p>
          <a:p>
            <a:r>
              <a:rPr lang="en-US" altLang="en-US"/>
              <a:t>There is an increased risk that the business may fail if a large unforeseen expense arises.</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Crowdfunding</a:t>
            </a:r>
            <a:endParaRPr lang="en-US" altLang="en-US"/>
          </a:p>
        </p:txBody>
      </p:sp>
      <p:sp>
        <p:nvSpPr>
          <p:cNvPr id="3" name="Content Placeholder 2"/>
          <p:cNvSpPr>
            <a:spLocks noGrp="1"/>
          </p:cNvSpPr>
          <p:nvPr>
            <p:ph idx="1"/>
          </p:nvPr>
        </p:nvSpPr>
        <p:spPr/>
        <p:txBody>
          <a:bodyPr/>
          <a:p>
            <a:r>
              <a:rPr lang="en-US" altLang="en-US"/>
              <a:t>Crowdfunding leverages small contributions from many individuals, connecting entrepreneurs with a diverse group of potential investors through social media and dedicated platforms.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This alternative funding method gained prominence after the 2008 financial crisis, as small businesses sought non-traditional funding sources when access to bank credit tightened. The global crowdfunding market continues to expand, predicted to grow annually by 15.82% from 2024 to 2033, indicating its increasing significance in the entrepreneurial ecosystem, according to the Global Equity Crowdfunding Alliance.</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a:t>Top Crowdfunding Platforms </a:t>
            </a:r>
            <a:endParaRPr lang="en-US" altLang="en-US"/>
          </a:p>
        </p:txBody>
      </p:sp>
      <p:sp>
        <p:nvSpPr>
          <p:cNvPr id="3" name="Content Placeholder 2"/>
          <p:cNvSpPr>
            <a:spLocks noGrp="1"/>
          </p:cNvSpPr>
          <p:nvPr>
            <p:ph idx="1"/>
          </p:nvPr>
        </p:nvSpPr>
        <p:spPr/>
        <p:txBody>
          <a:bodyPr/>
          <a:p>
            <a:r>
              <a:rPr lang="en-US" altLang="en-US"/>
              <a:t> Kickstarter</a:t>
            </a:r>
            <a:endParaRPr lang="en-US" altLang="en-US"/>
          </a:p>
          <a:p>
            <a:r>
              <a:rPr lang="en-US" altLang="en-US"/>
              <a:t>GoFundMe</a:t>
            </a:r>
            <a:endParaRPr lang="en-US" altLang="en-US"/>
          </a:p>
          <a:p>
            <a:r>
              <a:rPr lang="en-US" altLang="en-US"/>
              <a:t>Indiegogo</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Advantages and Disadvantages of Crowdfunding</a:t>
            </a:r>
            <a:endParaRPr lang="en-US" altLang="en-US"/>
          </a:p>
        </p:txBody>
      </p:sp>
      <p:sp>
        <p:nvSpPr>
          <p:cNvPr id="3" name="Content Placeholder 2"/>
          <p:cNvSpPr>
            <a:spLocks noGrp="1"/>
          </p:cNvSpPr>
          <p:nvPr>
            <p:ph idx="1"/>
          </p:nvPr>
        </p:nvSpPr>
        <p:spPr/>
        <p:txBody>
          <a:bodyPr>
            <a:normAutofit lnSpcReduction="20000"/>
          </a:bodyPr>
          <a:p>
            <a:pPr marL="0" indent="0">
              <a:buNone/>
            </a:pPr>
            <a:r>
              <a:rPr lang="en-US" altLang="en-US"/>
              <a:t>Pros</a:t>
            </a:r>
            <a:endParaRPr lang="en-US" altLang="en-US"/>
          </a:p>
          <a:p>
            <a:pPr marL="0" indent="0">
              <a:buNone/>
            </a:pPr>
            <a:r>
              <a:rPr lang="en-US" altLang="en-US"/>
              <a:t>Great way to interact with potential consumers</a:t>
            </a:r>
            <a:endParaRPr lang="en-US" altLang="en-US"/>
          </a:p>
          <a:p>
            <a:pPr marL="0" indent="0">
              <a:buNone/>
            </a:pPr>
            <a:endParaRPr lang="en-US" altLang="en-US"/>
          </a:p>
          <a:p>
            <a:pPr marL="0" indent="0">
              <a:buNone/>
            </a:pPr>
            <a:r>
              <a:rPr lang="en-US" altLang="en-US"/>
              <a:t>Ability to gauge public opinion on your product</a:t>
            </a:r>
            <a:endParaRPr lang="en-US" altLang="en-US"/>
          </a:p>
          <a:p>
            <a:pPr marL="0" indent="0">
              <a:buNone/>
            </a:pPr>
            <a:r>
              <a:rPr lang="en-US" altLang="en-US"/>
              <a:t>Cons</a:t>
            </a:r>
            <a:endParaRPr lang="en-US" altLang="en-US"/>
          </a:p>
          <a:p>
            <a:pPr marL="0" indent="0">
              <a:buNone/>
            </a:pPr>
            <a:r>
              <a:rPr lang="en-US" altLang="en-US"/>
              <a:t>Pledged financing is returned to investors if the funding goal isn't reached</a:t>
            </a:r>
            <a:endParaRPr lang="en-US" altLang="en-US"/>
          </a:p>
          <a:p>
            <a:pPr marL="0" indent="0">
              <a:buNone/>
            </a:pPr>
            <a:endParaRPr lang="en-US" altLang="en-US"/>
          </a:p>
          <a:p>
            <a:pPr marL="0" indent="0">
              <a:buNone/>
            </a:pPr>
            <a:r>
              <a:rPr lang="en-US" altLang="en-US"/>
              <a:t>May damage a start-up company's reputation</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4788</Words>
  <Application>WPS Presentation</Application>
  <PresentationFormat>On-screen Show (4:3)</PresentationFormat>
  <Paragraphs>84</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Arial</vt:lpstr>
      <vt:lpstr>SimSun</vt:lpstr>
      <vt:lpstr>Wingdings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Subhashree</cp:lastModifiedBy>
  <cp:revision>5</cp:revision>
  <dcterms:created xsi:type="dcterms:W3CDTF">2025-07-28T07:22:00Z</dcterms:created>
  <dcterms:modified xsi:type="dcterms:W3CDTF">2025-10-23T12:26:08Z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B4F47B31B52A4B81808614FF866C8E67_12</vt:lpwstr>
  </property>
  <property fmtid="{D5CDD505-2E9C-101B-9397-08002B2CF9AE}" pid="3" name="KSOProductBuildVer">
    <vt:lpwstr>1033-12.2.0.23131</vt:lpwstr>
  </property>
</Properties>
</file>